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47" r:id="rId1"/>
  </p:sldMasterIdLst>
  <p:notesMasterIdLst>
    <p:notesMasterId r:id="rId15"/>
  </p:notesMasterIdLst>
  <p:handoutMasterIdLst>
    <p:handoutMasterId r:id="rId16"/>
  </p:handoutMasterIdLst>
  <p:sldIdLst>
    <p:sldId id="256" r:id="rId2"/>
    <p:sldId id="356" r:id="rId3"/>
    <p:sldId id="262" r:id="rId4"/>
    <p:sldId id="355" r:id="rId5"/>
    <p:sldId id="357" r:id="rId6"/>
    <p:sldId id="359" r:id="rId7"/>
    <p:sldId id="353" r:id="rId8"/>
    <p:sldId id="325" r:id="rId9"/>
    <p:sldId id="354" r:id="rId10"/>
    <p:sldId id="313" r:id="rId11"/>
    <p:sldId id="334" r:id="rId12"/>
    <p:sldId id="350" r:id="rId13"/>
    <p:sldId id="351" r:id="rId14"/>
  </p:sldIdLst>
  <p:sldSz cx="9144000" cy="6858000" type="screen4x3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37AAED-BE61-47E5-B013-2944994D664F}">
          <p14:sldIdLst>
            <p14:sldId id="256"/>
            <p14:sldId id="356"/>
            <p14:sldId id="262"/>
            <p14:sldId id="355"/>
            <p14:sldId id="357"/>
            <p14:sldId id="359"/>
            <p14:sldId id="353"/>
            <p14:sldId id="325"/>
            <p14:sldId id="354"/>
            <p14:sldId id="313"/>
            <p14:sldId id="334"/>
            <p14:sldId id="350"/>
            <p14:sldId id="351"/>
          </p14:sldIdLst>
        </p14:section>
        <p14:section name="Example Slides" id="{BBF8DA21-8294-48F0-8778-C87B5311F92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ley, Brooke" initials="S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27" autoAdjust="0"/>
    <p:restoredTop sz="69844" autoAdjust="0"/>
  </p:normalViewPr>
  <p:slideViewPr>
    <p:cSldViewPr>
      <p:cViewPr>
        <p:scale>
          <a:sx n="95" d="100"/>
          <a:sy n="95" d="100"/>
        </p:scale>
        <p:origin x="75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B17693-C3B9-4EBE-9EAC-954BFB12EA34}" type="doc">
      <dgm:prSet loTypeId="urn:microsoft.com/office/officeart/2005/8/layout/process4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85C7DBF-689D-472B-8098-A5298D99B214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Introduction </a:t>
          </a:r>
        </a:p>
      </dgm:t>
    </dgm:pt>
    <dgm:pt modelId="{C4C614A8-1E07-4058-9DA1-FEDF6E57F8A4}" type="parTrans" cxnId="{101B4420-7C1B-4396-9BD2-D45A1E75F683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F404EE77-919C-45DC-B15C-140F3CD7DDAA}" type="sibTrans" cxnId="{101B4420-7C1B-4396-9BD2-D45A1E75F683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04038D16-3A17-4C00-AF0A-237CE5A277C9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Background</a:t>
          </a:r>
        </a:p>
      </dgm:t>
    </dgm:pt>
    <dgm:pt modelId="{98481E7D-4677-4748-9AB9-B707DEBCDDBA}" type="parTrans" cxnId="{53674CA8-8A07-4B7D-9612-0CB8F464401B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8016BB52-99D8-468C-A026-79EF7ACED5E9}" type="sibTrans" cxnId="{53674CA8-8A07-4B7D-9612-0CB8F464401B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C9B5168B-A3D4-497D-93CD-5086832FC5FB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Methods </a:t>
          </a:r>
        </a:p>
      </dgm:t>
    </dgm:pt>
    <dgm:pt modelId="{84F199FF-42B0-4874-878C-EF32FCD435A2}" type="parTrans" cxnId="{CA54D6E6-467B-49C8-B138-39E3D83A5847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632DDE3A-0DA7-4B16-8FF6-5A4E15DF8B30}" type="sibTrans" cxnId="{CA54D6E6-467B-49C8-B138-39E3D83A5847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8DDAD1EE-7334-B847-BE07-B0AF1CCCD1FC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Statistical Analysis </a:t>
          </a:r>
        </a:p>
      </dgm:t>
    </dgm:pt>
    <dgm:pt modelId="{2ABBA51B-47EE-D84D-B301-EB5A4D447C4A}" type="parTrans" cxnId="{3DF4BC44-640F-8749-B560-8F430D83E7C0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DC5FFCAB-B5F6-1D46-9568-62CA9C1562A4}" type="sibTrans" cxnId="{3DF4BC44-640F-8749-B560-8F430D83E7C0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7C78550C-F3F1-354D-8516-839710B2241F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Results </a:t>
          </a:r>
        </a:p>
      </dgm:t>
    </dgm:pt>
    <dgm:pt modelId="{5960260D-C958-594D-9AE8-E116B6F719E3}" type="parTrans" cxnId="{92B049EA-84B4-3941-A924-A40EDAB95594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6CC2072B-BF86-5B4A-A100-33E3CA19656E}" type="sibTrans" cxnId="{92B049EA-84B4-3941-A924-A40EDAB95594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2C9DBDC8-C94F-B54E-BFE0-AA6BA5363380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Discussion </a:t>
          </a:r>
        </a:p>
      </dgm:t>
    </dgm:pt>
    <dgm:pt modelId="{0E126588-8DE9-0F45-9687-54D83AF47FD0}" type="parTrans" cxnId="{0D8E4F0B-2416-044E-B06D-49EAF40C608F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E0FF501D-D4BD-A048-B04B-698E4160EFB3}" type="sibTrans" cxnId="{0D8E4F0B-2416-044E-B06D-49EAF40C608F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AE6053A6-2A5E-3140-B92E-64FD05ED27F5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Recommendations </a:t>
          </a:r>
        </a:p>
      </dgm:t>
    </dgm:pt>
    <dgm:pt modelId="{DE05C712-11C8-2E47-A1DB-F27F488D06CF}" type="parTrans" cxnId="{CBA49AA0-E288-5E41-BDFC-7829FEB567C5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AC14E394-ECE2-7E4A-BF35-6B5921A4FC75}" type="sibTrans" cxnId="{CBA49AA0-E288-5E41-BDFC-7829FEB567C5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F4A4B9F7-9EE2-8340-BFDB-9CCEEC998786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Website </a:t>
          </a:r>
        </a:p>
      </dgm:t>
    </dgm:pt>
    <dgm:pt modelId="{6B495E11-FE71-E140-AFA1-589A38550A7A}" type="parTrans" cxnId="{5776AB4D-88D9-7B49-94F9-560050CDA13F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A228D701-6503-7146-BF82-B1D260AE4F2C}" type="sibTrans" cxnId="{5776AB4D-88D9-7B49-94F9-560050CDA13F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D25813CA-3A67-AA43-904B-17E3CA2E144C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Questions </a:t>
          </a:r>
        </a:p>
      </dgm:t>
    </dgm:pt>
    <dgm:pt modelId="{CF19A77D-033E-014A-A590-4EEAE8974AB9}" type="parTrans" cxnId="{CADB1EEC-6A4B-9049-BA19-54789CC185FB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2AB910A0-B6BD-F943-9BFF-077D141710C8}" type="sibTrans" cxnId="{CADB1EEC-6A4B-9049-BA19-54789CC185FB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17E7BE74-F4C6-C145-81B3-EB898073076F}">
      <dgm:prSet custT="1"/>
      <dgm:spPr/>
      <dgm:t>
        <a:bodyPr/>
        <a:lstStyle/>
        <a:p>
          <a:pPr algn="ctr"/>
          <a:r>
            <a:rPr lang="en-US" sz="2400" b="1" dirty="0">
              <a:latin typeface="Georgia" panose="02040502050405020303" pitchFamily="18" charset="0"/>
            </a:rPr>
            <a:t>References </a:t>
          </a:r>
        </a:p>
      </dgm:t>
    </dgm:pt>
    <dgm:pt modelId="{9373E79C-08EA-BA4A-99B4-CC46C9BF14A8}" type="parTrans" cxnId="{A38ECD95-ABAF-FE49-B077-D27B356938D2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C0D0AA0C-7837-7B4B-851F-49981EE2D40E}" type="sibTrans" cxnId="{A38ECD95-ABAF-FE49-B077-D27B356938D2}">
      <dgm:prSet/>
      <dgm:spPr/>
      <dgm:t>
        <a:bodyPr/>
        <a:lstStyle/>
        <a:p>
          <a:pPr algn="ctr"/>
          <a:endParaRPr lang="en-US" sz="2400" b="1">
            <a:latin typeface="Georgia" panose="02040502050405020303" pitchFamily="18" charset="0"/>
          </a:endParaRPr>
        </a:p>
      </dgm:t>
    </dgm:pt>
    <dgm:pt modelId="{37946BDD-BECE-B74E-BC12-1AF3CD43089E}" type="pres">
      <dgm:prSet presAssocID="{1FB17693-C3B9-4EBE-9EAC-954BFB12EA34}" presName="Name0" presStyleCnt="0">
        <dgm:presLayoutVars>
          <dgm:dir/>
          <dgm:animLvl val="lvl"/>
          <dgm:resizeHandles val="exact"/>
        </dgm:presLayoutVars>
      </dgm:prSet>
      <dgm:spPr/>
    </dgm:pt>
    <dgm:pt modelId="{B27E0939-B9A7-F14E-AFDA-14D853A94974}" type="pres">
      <dgm:prSet presAssocID="{17E7BE74-F4C6-C145-81B3-EB898073076F}" presName="boxAndChildren" presStyleCnt="0"/>
      <dgm:spPr/>
    </dgm:pt>
    <dgm:pt modelId="{E922F0D0-2E30-9449-99DB-794F36E954BB}" type="pres">
      <dgm:prSet presAssocID="{17E7BE74-F4C6-C145-81B3-EB898073076F}" presName="parentTextBox" presStyleLbl="node1" presStyleIdx="0" presStyleCnt="10"/>
      <dgm:spPr/>
    </dgm:pt>
    <dgm:pt modelId="{7F30689B-8659-074C-8EC4-E319A96903D6}" type="pres">
      <dgm:prSet presAssocID="{2AB910A0-B6BD-F943-9BFF-077D141710C8}" presName="sp" presStyleCnt="0"/>
      <dgm:spPr/>
    </dgm:pt>
    <dgm:pt modelId="{B06E82D7-1AC2-264D-810B-4EC126676701}" type="pres">
      <dgm:prSet presAssocID="{D25813CA-3A67-AA43-904B-17E3CA2E144C}" presName="arrowAndChildren" presStyleCnt="0"/>
      <dgm:spPr/>
    </dgm:pt>
    <dgm:pt modelId="{5BD7DDA8-BE67-DE49-87FC-670D5E6D77F0}" type="pres">
      <dgm:prSet presAssocID="{D25813CA-3A67-AA43-904B-17E3CA2E144C}" presName="parentTextArrow" presStyleLbl="node1" presStyleIdx="1" presStyleCnt="10"/>
      <dgm:spPr/>
    </dgm:pt>
    <dgm:pt modelId="{C85DC3F2-4F32-A340-B24F-D36231BFC7BD}" type="pres">
      <dgm:prSet presAssocID="{A228D701-6503-7146-BF82-B1D260AE4F2C}" presName="sp" presStyleCnt="0"/>
      <dgm:spPr/>
    </dgm:pt>
    <dgm:pt modelId="{2F38A473-C502-9744-B110-CD4B7355AF3E}" type="pres">
      <dgm:prSet presAssocID="{F4A4B9F7-9EE2-8340-BFDB-9CCEEC998786}" presName="arrowAndChildren" presStyleCnt="0"/>
      <dgm:spPr/>
    </dgm:pt>
    <dgm:pt modelId="{1B2483C9-8850-164F-B5B9-CAC911E4839B}" type="pres">
      <dgm:prSet presAssocID="{F4A4B9F7-9EE2-8340-BFDB-9CCEEC998786}" presName="parentTextArrow" presStyleLbl="node1" presStyleIdx="2" presStyleCnt="10"/>
      <dgm:spPr/>
    </dgm:pt>
    <dgm:pt modelId="{242009E6-C1AF-0F45-8C6B-107C798A1616}" type="pres">
      <dgm:prSet presAssocID="{AC14E394-ECE2-7E4A-BF35-6B5921A4FC75}" presName="sp" presStyleCnt="0"/>
      <dgm:spPr/>
    </dgm:pt>
    <dgm:pt modelId="{35B3730F-0805-2E47-B7BF-83586D089DB9}" type="pres">
      <dgm:prSet presAssocID="{AE6053A6-2A5E-3140-B92E-64FD05ED27F5}" presName="arrowAndChildren" presStyleCnt="0"/>
      <dgm:spPr/>
    </dgm:pt>
    <dgm:pt modelId="{EE2B210C-5942-3A4F-973F-EC64A27A2F9E}" type="pres">
      <dgm:prSet presAssocID="{AE6053A6-2A5E-3140-B92E-64FD05ED27F5}" presName="parentTextArrow" presStyleLbl="node1" presStyleIdx="3" presStyleCnt="10"/>
      <dgm:spPr/>
    </dgm:pt>
    <dgm:pt modelId="{2E00E218-F926-0D41-84EF-F17D6DBA4A1C}" type="pres">
      <dgm:prSet presAssocID="{E0FF501D-D4BD-A048-B04B-698E4160EFB3}" presName="sp" presStyleCnt="0"/>
      <dgm:spPr/>
    </dgm:pt>
    <dgm:pt modelId="{B7BF2AEA-7701-C940-B4E7-1417D3AE2A89}" type="pres">
      <dgm:prSet presAssocID="{2C9DBDC8-C94F-B54E-BFE0-AA6BA5363380}" presName="arrowAndChildren" presStyleCnt="0"/>
      <dgm:spPr/>
    </dgm:pt>
    <dgm:pt modelId="{495E72E8-387B-9941-A6FD-ED9DE3AA6BAA}" type="pres">
      <dgm:prSet presAssocID="{2C9DBDC8-C94F-B54E-BFE0-AA6BA5363380}" presName="parentTextArrow" presStyleLbl="node1" presStyleIdx="4" presStyleCnt="10"/>
      <dgm:spPr/>
    </dgm:pt>
    <dgm:pt modelId="{1FEAB61E-8545-984C-815A-554BC635BC79}" type="pres">
      <dgm:prSet presAssocID="{6CC2072B-BF86-5B4A-A100-33E3CA19656E}" presName="sp" presStyleCnt="0"/>
      <dgm:spPr/>
    </dgm:pt>
    <dgm:pt modelId="{76397949-64F9-864A-BB06-BAD82A0253AF}" type="pres">
      <dgm:prSet presAssocID="{7C78550C-F3F1-354D-8516-839710B2241F}" presName="arrowAndChildren" presStyleCnt="0"/>
      <dgm:spPr/>
    </dgm:pt>
    <dgm:pt modelId="{40AAEAE3-DA25-4F46-93FB-F498436A5CFB}" type="pres">
      <dgm:prSet presAssocID="{7C78550C-F3F1-354D-8516-839710B2241F}" presName="parentTextArrow" presStyleLbl="node1" presStyleIdx="5" presStyleCnt="10"/>
      <dgm:spPr/>
    </dgm:pt>
    <dgm:pt modelId="{D797F501-6A10-FB48-BACB-C61B41E75F5D}" type="pres">
      <dgm:prSet presAssocID="{DC5FFCAB-B5F6-1D46-9568-62CA9C1562A4}" presName="sp" presStyleCnt="0"/>
      <dgm:spPr/>
    </dgm:pt>
    <dgm:pt modelId="{8D9F7140-B184-CC40-A46E-FFCD7A837366}" type="pres">
      <dgm:prSet presAssocID="{8DDAD1EE-7334-B847-BE07-B0AF1CCCD1FC}" presName="arrowAndChildren" presStyleCnt="0"/>
      <dgm:spPr/>
    </dgm:pt>
    <dgm:pt modelId="{C47B803E-4DCA-AD46-9347-B23FF3FA0FE8}" type="pres">
      <dgm:prSet presAssocID="{8DDAD1EE-7334-B847-BE07-B0AF1CCCD1FC}" presName="parentTextArrow" presStyleLbl="node1" presStyleIdx="6" presStyleCnt="10"/>
      <dgm:spPr/>
    </dgm:pt>
    <dgm:pt modelId="{87900A98-300D-634E-8077-2C20F4CB699D}" type="pres">
      <dgm:prSet presAssocID="{632DDE3A-0DA7-4B16-8FF6-5A4E15DF8B30}" presName="sp" presStyleCnt="0"/>
      <dgm:spPr/>
    </dgm:pt>
    <dgm:pt modelId="{0230BBC6-8F3C-4644-AF01-54550E5E90B4}" type="pres">
      <dgm:prSet presAssocID="{C9B5168B-A3D4-497D-93CD-5086832FC5FB}" presName="arrowAndChildren" presStyleCnt="0"/>
      <dgm:spPr/>
    </dgm:pt>
    <dgm:pt modelId="{EB004F39-4371-554D-8B55-AD9A02B41EBD}" type="pres">
      <dgm:prSet presAssocID="{C9B5168B-A3D4-497D-93CD-5086832FC5FB}" presName="parentTextArrow" presStyleLbl="node1" presStyleIdx="7" presStyleCnt="10"/>
      <dgm:spPr/>
    </dgm:pt>
    <dgm:pt modelId="{CE38E9A7-C95D-1A4C-A499-EB404D64413E}" type="pres">
      <dgm:prSet presAssocID="{8016BB52-99D8-468C-A026-79EF7ACED5E9}" presName="sp" presStyleCnt="0"/>
      <dgm:spPr/>
    </dgm:pt>
    <dgm:pt modelId="{DDB7AA61-F8F2-0C44-8125-8074DDF0C825}" type="pres">
      <dgm:prSet presAssocID="{04038D16-3A17-4C00-AF0A-237CE5A277C9}" presName="arrowAndChildren" presStyleCnt="0"/>
      <dgm:spPr/>
    </dgm:pt>
    <dgm:pt modelId="{8318797E-38A6-134C-8009-DFE90A0B85BB}" type="pres">
      <dgm:prSet presAssocID="{04038D16-3A17-4C00-AF0A-237CE5A277C9}" presName="parentTextArrow" presStyleLbl="node1" presStyleIdx="8" presStyleCnt="10"/>
      <dgm:spPr/>
    </dgm:pt>
    <dgm:pt modelId="{E6B9DE78-E7E3-AE47-8AD9-45F6ECD6B285}" type="pres">
      <dgm:prSet presAssocID="{F404EE77-919C-45DC-B15C-140F3CD7DDAA}" presName="sp" presStyleCnt="0"/>
      <dgm:spPr/>
    </dgm:pt>
    <dgm:pt modelId="{AF7CAB09-9475-584B-A73D-F70AA4022F37}" type="pres">
      <dgm:prSet presAssocID="{D85C7DBF-689D-472B-8098-A5298D99B214}" presName="arrowAndChildren" presStyleCnt="0"/>
      <dgm:spPr/>
    </dgm:pt>
    <dgm:pt modelId="{AAAC8DEC-1AF0-1143-96AE-D6EF31397844}" type="pres">
      <dgm:prSet presAssocID="{D85C7DBF-689D-472B-8098-A5298D99B214}" presName="parentTextArrow" presStyleLbl="node1" presStyleIdx="9" presStyleCnt="10"/>
      <dgm:spPr/>
    </dgm:pt>
  </dgm:ptLst>
  <dgm:cxnLst>
    <dgm:cxn modelId="{4095DD03-7703-9B49-A2DA-C2A70596A7CE}" type="presOf" srcId="{D85C7DBF-689D-472B-8098-A5298D99B214}" destId="{AAAC8DEC-1AF0-1143-96AE-D6EF31397844}" srcOrd="0" destOrd="0" presId="urn:microsoft.com/office/officeart/2005/8/layout/process4"/>
    <dgm:cxn modelId="{0D8E4F0B-2416-044E-B06D-49EAF40C608F}" srcId="{1FB17693-C3B9-4EBE-9EAC-954BFB12EA34}" destId="{2C9DBDC8-C94F-B54E-BFE0-AA6BA5363380}" srcOrd="5" destOrd="0" parTransId="{0E126588-8DE9-0F45-9687-54D83AF47FD0}" sibTransId="{E0FF501D-D4BD-A048-B04B-698E4160EFB3}"/>
    <dgm:cxn modelId="{C087E310-E8F9-494A-89DE-8D8DA81B639B}" type="presOf" srcId="{7C78550C-F3F1-354D-8516-839710B2241F}" destId="{40AAEAE3-DA25-4F46-93FB-F498436A5CFB}" srcOrd="0" destOrd="0" presId="urn:microsoft.com/office/officeart/2005/8/layout/process4"/>
    <dgm:cxn modelId="{E828C518-B0CD-D34F-B377-AF12C498B93B}" type="presOf" srcId="{2C9DBDC8-C94F-B54E-BFE0-AA6BA5363380}" destId="{495E72E8-387B-9941-A6FD-ED9DE3AA6BAA}" srcOrd="0" destOrd="0" presId="urn:microsoft.com/office/officeart/2005/8/layout/process4"/>
    <dgm:cxn modelId="{101B4420-7C1B-4396-9BD2-D45A1E75F683}" srcId="{1FB17693-C3B9-4EBE-9EAC-954BFB12EA34}" destId="{D85C7DBF-689D-472B-8098-A5298D99B214}" srcOrd="0" destOrd="0" parTransId="{C4C614A8-1E07-4058-9DA1-FEDF6E57F8A4}" sibTransId="{F404EE77-919C-45DC-B15C-140F3CD7DDAA}"/>
    <dgm:cxn modelId="{44689D31-09C5-D747-9BD6-3E38D38ACD7D}" type="presOf" srcId="{1FB17693-C3B9-4EBE-9EAC-954BFB12EA34}" destId="{37946BDD-BECE-B74E-BC12-1AF3CD43089E}" srcOrd="0" destOrd="0" presId="urn:microsoft.com/office/officeart/2005/8/layout/process4"/>
    <dgm:cxn modelId="{97C69F43-4E1B-9745-BFE7-E2C1EA18EA4A}" type="presOf" srcId="{AE6053A6-2A5E-3140-B92E-64FD05ED27F5}" destId="{EE2B210C-5942-3A4F-973F-EC64A27A2F9E}" srcOrd="0" destOrd="0" presId="urn:microsoft.com/office/officeart/2005/8/layout/process4"/>
    <dgm:cxn modelId="{3DF4BC44-640F-8749-B560-8F430D83E7C0}" srcId="{1FB17693-C3B9-4EBE-9EAC-954BFB12EA34}" destId="{8DDAD1EE-7334-B847-BE07-B0AF1CCCD1FC}" srcOrd="3" destOrd="0" parTransId="{2ABBA51B-47EE-D84D-B301-EB5A4D447C4A}" sibTransId="{DC5FFCAB-B5F6-1D46-9568-62CA9C1562A4}"/>
    <dgm:cxn modelId="{54B2DA45-4A25-CC46-BA05-BF617CC83F63}" type="presOf" srcId="{8DDAD1EE-7334-B847-BE07-B0AF1CCCD1FC}" destId="{C47B803E-4DCA-AD46-9347-B23FF3FA0FE8}" srcOrd="0" destOrd="0" presId="urn:microsoft.com/office/officeart/2005/8/layout/process4"/>
    <dgm:cxn modelId="{5776AB4D-88D9-7B49-94F9-560050CDA13F}" srcId="{1FB17693-C3B9-4EBE-9EAC-954BFB12EA34}" destId="{F4A4B9F7-9EE2-8340-BFDB-9CCEEC998786}" srcOrd="7" destOrd="0" parTransId="{6B495E11-FE71-E140-AFA1-589A38550A7A}" sibTransId="{A228D701-6503-7146-BF82-B1D260AE4F2C}"/>
    <dgm:cxn modelId="{5E43A970-8B6B-484C-8FB1-19D0873101AC}" type="presOf" srcId="{F4A4B9F7-9EE2-8340-BFDB-9CCEEC998786}" destId="{1B2483C9-8850-164F-B5B9-CAC911E4839B}" srcOrd="0" destOrd="0" presId="urn:microsoft.com/office/officeart/2005/8/layout/process4"/>
    <dgm:cxn modelId="{A38ECD95-ABAF-FE49-B077-D27B356938D2}" srcId="{1FB17693-C3B9-4EBE-9EAC-954BFB12EA34}" destId="{17E7BE74-F4C6-C145-81B3-EB898073076F}" srcOrd="9" destOrd="0" parTransId="{9373E79C-08EA-BA4A-99B4-CC46C9BF14A8}" sibTransId="{C0D0AA0C-7837-7B4B-851F-49981EE2D40E}"/>
    <dgm:cxn modelId="{CBA49AA0-E288-5E41-BDFC-7829FEB567C5}" srcId="{1FB17693-C3B9-4EBE-9EAC-954BFB12EA34}" destId="{AE6053A6-2A5E-3140-B92E-64FD05ED27F5}" srcOrd="6" destOrd="0" parTransId="{DE05C712-11C8-2E47-A1DB-F27F488D06CF}" sibTransId="{AC14E394-ECE2-7E4A-BF35-6B5921A4FC75}"/>
    <dgm:cxn modelId="{53674CA8-8A07-4B7D-9612-0CB8F464401B}" srcId="{1FB17693-C3B9-4EBE-9EAC-954BFB12EA34}" destId="{04038D16-3A17-4C00-AF0A-237CE5A277C9}" srcOrd="1" destOrd="0" parTransId="{98481E7D-4677-4748-9AB9-B707DEBCDDBA}" sibTransId="{8016BB52-99D8-468C-A026-79EF7ACED5E9}"/>
    <dgm:cxn modelId="{01CED3A8-3DF6-DA4C-9FBA-D48861C76DAA}" type="presOf" srcId="{C9B5168B-A3D4-497D-93CD-5086832FC5FB}" destId="{EB004F39-4371-554D-8B55-AD9A02B41EBD}" srcOrd="0" destOrd="0" presId="urn:microsoft.com/office/officeart/2005/8/layout/process4"/>
    <dgm:cxn modelId="{2F1914CD-16F2-EC4B-B6AE-709F1497A6E1}" type="presOf" srcId="{04038D16-3A17-4C00-AF0A-237CE5A277C9}" destId="{8318797E-38A6-134C-8009-DFE90A0B85BB}" srcOrd="0" destOrd="0" presId="urn:microsoft.com/office/officeart/2005/8/layout/process4"/>
    <dgm:cxn modelId="{3E2675CE-D403-6249-8DF5-877597ADBB02}" type="presOf" srcId="{17E7BE74-F4C6-C145-81B3-EB898073076F}" destId="{E922F0D0-2E30-9449-99DB-794F36E954BB}" srcOrd="0" destOrd="0" presId="urn:microsoft.com/office/officeart/2005/8/layout/process4"/>
    <dgm:cxn modelId="{CA54D6E6-467B-49C8-B138-39E3D83A5847}" srcId="{1FB17693-C3B9-4EBE-9EAC-954BFB12EA34}" destId="{C9B5168B-A3D4-497D-93CD-5086832FC5FB}" srcOrd="2" destOrd="0" parTransId="{84F199FF-42B0-4874-878C-EF32FCD435A2}" sibTransId="{632DDE3A-0DA7-4B16-8FF6-5A4E15DF8B30}"/>
    <dgm:cxn modelId="{377D2DE7-5E8C-3C4A-96FA-72BAF544A7D5}" type="presOf" srcId="{D25813CA-3A67-AA43-904B-17E3CA2E144C}" destId="{5BD7DDA8-BE67-DE49-87FC-670D5E6D77F0}" srcOrd="0" destOrd="0" presId="urn:microsoft.com/office/officeart/2005/8/layout/process4"/>
    <dgm:cxn modelId="{92B049EA-84B4-3941-A924-A40EDAB95594}" srcId="{1FB17693-C3B9-4EBE-9EAC-954BFB12EA34}" destId="{7C78550C-F3F1-354D-8516-839710B2241F}" srcOrd="4" destOrd="0" parTransId="{5960260D-C958-594D-9AE8-E116B6F719E3}" sibTransId="{6CC2072B-BF86-5B4A-A100-33E3CA19656E}"/>
    <dgm:cxn modelId="{CADB1EEC-6A4B-9049-BA19-54789CC185FB}" srcId="{1FB17693-C3B9-4EBE-9EAC-954BFB12EA34}" destId="{D25813CA-3A67-AA43-904B-17E3CA2E144C}" srcOrd="8" destOrd="0" parTransId="{CF19A77D-033E-014A-A590-4EEAE8974AB9}" sibTransId="{2AB910A0-B6BD-F943-9BFF-077D141710C8}"/>
    <dgm:cxn modelId="{30C71E47-7E8B-1149-969A-AE027F254147}" type="presParOf" srcId="{37946BDD-BECE-B74E-BC12-1AF3CD43089E}" destId="{B27E0939-B9A7-F14E-AFDA-14D853A94974}" srcOrd="0" destOrd="0" presId="urn:microsoft.com/office/officeart/2005/8/layout/process4"/>
    <dgm:cxn modelId="{4AFE3A99-5D1D-C943-AD8F-9AAB563F2747}" type="presParOf" srcId="{B27E0939-B9A7-F14E-AFDA-14D853A94974}" destId="{E922F0D0-2E30-9449-99DB-794F36E954BB}" srcOrd="0" destOrd="0" presId="urn:microsoft.com/office/officeart/2005/8/layout/process4"/>
    <dgm:cxn modelId="{35758CD0-8683-5645-992F-6DA0758D0EEB}" type="presParOf" srcId="{37946BDD-BECE-B74E-BC12-1AF3CD43089E}" destId="{7F30689B-8659-074C-8EC4-E319A96903D6}" srcOrd="1" destOrd="0" presId="urn:microsoft.com/office/officeart/2005/8/layout/process4"/>
    <dgm:cxn modelId="{DAC4850C-12D4-1447-B337-A9224D4AB52B}" type="presParOf" srcId="{37946BDD-BECE-B74E-BC12-1AF3CD43089E}" destId="{B06E82D7-1AC2-264D-810B-4EC126676701}" srcOrd="2" destOrd="0" presId="urn:microsoft.com/office/officeart/2005/8/layout/process4"/>
    <dgm:cxn modelId="{1BD44043-EB4B-C540-99BF-0B0FEB4D9A1B}" type="presParOf" srcId="{B06E82D7-1AC2-264D-810B-4EC126676701}" destId="{5BD7DDA8-BE67-DE49-87FC-670D5E6D77F0}" srcOrd="0" destOrd="0" presId="urn:microsoft.com/office/officeart/2005/8/layout/process4"/>
    <dgm:cxn modelId="{2BB20E78-0857-454C-8DA5-647B2F465F6E}" type="presParOf" srcId="{37946BDD-BECE-B74E-BC12-1AF3CD43089E}" destId="{C85DC3F2-4F32-A340-B24F-D36231BFC7BD}" srcOrd="3" destOrd="0" presId="urn:microsoft.com/office/officeart/2005/8/layout/process4"/>
    <dgm:cxn modelId="{4B85A3E6-44BD-534E-BD9E-59DE81C2A273}" type="presParOf" srcId="{37946BDD-BECE-B74E-BC12-1AF3CD43089E}" destId="{2F38A473-C502-9744-B110-CD4B7355AF3E}" srcOrd="4" destOrd="0" presId="urn:microsoft.com/office/officeart/2005/8/layout/process4"/>
    <dgm:cxn modelId="{FE8A1DD7-F17C-624B-87B4-8BF2DBEB0FB9}" type="presParOf" srcId="{2F38A473-C502-9744-B110-CD4B7355AF3E}" destId="{1B2483C9-8850-164F-B5B9-CAC911E4839B}" srcOrd="0" destOrd="0" presId="urn:microsoft.com/office/officeart/2005/8/layout/process4"/>
    <dgm:cxn modelId="{E6BCB186-106B-DF4A-AE5B-29E1C3B62463}" type="presParOf" srcId="{37946BDD-BECE-B74E-BC12-1AF3CD43089E}" destId="{242009E6-C1AF-0F45-8C6B-107C798A1616}" srcOrd="5" destOrd="0" presId="urn:microsoft.com/office/officeart/2005/8/layout/process4"/>
    <dgm:cxn modelId="{A7704C4A-9114-DF47-828A-1D02705D2107}" type="presParOf" srcId="{37946BDD-BECE-B74E-BC12-1AF3CD43089E}" destId="{35B3730F-0805-2E47-B7BF-83586D089DB9}" srcOrd="6" destOrd="0" presId="urn:microsoft.com/office/officeart/2005/8/layout/process4"/>
    <dgm:cxn modelId="{988DF6C6-7B96-4342-8839-41368713565F}" type="presParOf" srcId="{35B3730F-0805-2E47-B7BF-83586D089DB9}" destId="{EE2B210C-5942-3A4F-973F-EC64A27A2F9E}" srcOrd="0" destOrd="0" presId="urn:microsoft.com/office/officeart/2005/8/layout/process4"/>
    <dgm:cxn modelId="{9F620E39-B679-E14F-999F-9CE03D15E34F}" type="presParOf" srcId="{37946BDD-BECE-B74E-BC12-1AF3CD43089E}" destId="{2E00E218-F926-0D41-84EF-F17D6DBA4A1C}" srcOrd="7" destOrd="0" presId="urn:microsoft.com/office/officeart/2005/8/layout/process4"/>
    <dgm:cxn modelId="{3901F472-FFAC-504C-879C-E743A03FD711}" type="presParOf" srcId="{37946BDD-BECE-B74E-BC12-1AF3CD43089E}" destId="{B7BF2AEA-7701-C940-B4E7-1417D3AE2A89}" srcOrd="8" destOrd="0" presId="urn:microsoft.com/office/officeart/2005/8/layout/process4"/>
    <dgm:cxn modelId="{DFCC2311-16C7-F647-BE59-960EE5F696CC}" type="presParOf" srcId="{B7BF2AEA-7701-C940-B4E7-1417D3AE2A89}" destId="{495E72E8-387B-9941-A6FD-ED9DE3AA6BAA}" srcOrd="0" destOrd="0" presId="urn:microsoft.com/office/officeart/2005/8/layout/process4"/>
    <dgm:cxn modelId="{03B0E673-1422-CD49-8140-65452354A1F5}" type="presParOf" srcId="{37946BDD-BECE-B74E-BC12-1AF3CD43089E}" destId="{1FEAB61E-8545-984C-815A-554BC635BC79}" srcOrd="9" destOrd="0" presId="urn:microsoft.com/office/officeart/2005/8/layout/process4"/>
    <dgm:cxn modelId="{003D2EF4-AC55-C340-9F78-7FADB8518AEF}" type="presParOf" srcId="{37946BDD-BECE-B74E-BC12-1AF3CD43089E}" destId="{76397949-64F9-864A-BB06-BAD82A0253AF}" srcOrd="10" destOrd="0" presId="urn:microsoft.com/office/officeart/2005/8/layout/process4"/>
    <dgm:cxn modelId="{29C4F6E0-DB65-4E43-B932-6CC5C6DF61B7}" type="presParOf" srcId="{76397949-64F9-864A-BB06-BAD82A0253AF}" destId="{40AAEAE3-DA25-4F46-93FB-F498436A5CFB}" srcOrd="0" destOrd="0" presId="urn:microsoft.com/office/officeart/2005/8/layout/process4"/>
    <dgm:cxn modelId="{2EEAB2E2-B492-C348-8E76-5ADA4788B719}" type="presParOf" srcId="{37946BDD-BECE-B74E-BC12-1AF3CD43089E}" destId="{D797F501-6A10-FB48-BACB-C61B41E75F5D}" srcOrd="11" destOrd="0" presId="urn:microsoft.com/office/officeart/2005/8/layout/process4"/>
    <dgm:cxn modelId="{0726A4C7-FC4F-EE4F-8D96-33B3034060DB}" type="presParOf" srcId="{37946BDD-BECE-B74E-BC12-1AF3CD43089E}" destId="{8D9F7140-B184-CC40-A46E-FFCD7A837366}" srcOrd="12" destOrd="0" presId="urn:microsoft.com/office/officeart/2005/8/layout/process4"/>
    <dgm:cxn modelId="{8F103997-89EF-8D46-A7DB-8D64630215E0}" type="presParOf" srcId="{8D9F7140-B184-CC40-A46E-FFCD7A837366}" destId="{C47B803E-4DCA-AD46-9347-B23FF3FA0FE8}" srcOrd="0" destOrd="0" presId="urn:microsoft.com/office/officeart/2005/8/layout/process4"/>
    <dgm:cxn modelId="{F0D18072-B7B9-DD4F-91D1-EA9B9D8D63EE}" type="presParOf" srcId="{37946BDD-BECE-B74E-BC12-1AF3CD43089E}" destId="{87900A98-300D-634E-8077-2C20F4CB699D}" srcOrd="13" destOrd="0" presId="urn:microsoft.com/office/officeart/2005/8/layout/process4"/>
    <dgm:cxn modelId="{E901DC41-8F21-1D41-A386-890251329FED}" type="presParOf" srcId="{37946BDD-BECE-B74E-BC12-1AF3CD43089E}" destId="{0230BBC6-8F3C-4644-AF01-54550E5E90B4}" srcOrd="14" destOrd="0" presId="urn:microsoft.com/office/officeart/2005/8/layout/process4"/>
    <dgm:cxn modelId="{25330D06-E0D4-B54B-AB6A-BB79CF515529}" type="presParOf" srcId="{0230BBC6-8F3C-4644-AF01-54550E5E90B4}" destId="{EB004F39-4371-554D-8B55-AD9A02B41EBD}" srcOrd="0" destOrd="0" presId="urn:microsoft.com/office/officeart/2005/8/layout/process4"/>
    <dgm:cxn modelId="{223803A4-AD0C-944B-8483-73DA9C8E014A}" type="presParOf" srcId="{37946BDD-BECE-B74E-BC12-1AF3CD43089E}" destId="{CE38E9A7-C95D-1A4C-A499-EB404D64413E}" srcOrd="15" destOrd="0" presId="urn:microsoft.com/office/officeart/2005/8/layout/process4"/>
    <dgm:cxn modelId="{B8BE28F9-731C-624A-9707-3521AAF4572F}" type="presParOf" srcId="{37946BDD-BECE-B74E-BC12-1AF3CD43089E}" destId="{DDB7AA61-F8F2-0C44-8125-8074DDF0C825}" srcOrd="16" destOrd="0" presId="urn:microsoft.com/office/officeart/2005/8/layout/process4"/>
    <dgm:cxn modelId="{92511EB2-D3AC-F241-972B-5533BCD3D6E6}" type="presParOf" srcId="{DDB7AA61-F8F2-0C44-8125-8074DDF0C825}" destId="{8318797E-38A6-134C-8009-DFE90A0B85BB}" srcOrd="0" destOrd="0" presId="urn:microsoft.com/office/officeart/2005/8/layout/process4"/>
    <dgm:cxn modelId="{4E9C1DBB-CA17-6341-855F-9705D0C525A6}" type="presParOf" srcId="{37946BDD-BECE-B74E-BC12-1AF3CD43089E}" destId="{E6B9DE78-E7E3-AE47-8AD9-45F6ECD6B285}" srcOrd="17" destOrd="0" presId="urn:microsoft.com/office/officeart/2005/8/layout/process4"/>
    <dgm:cxn modelId="{CF2989A2-5CD7-8245-9ADC-E989EA54FB23}" type="presParOf" srcId="{37946BDD-BECE-B74E-BC12-1AF3CD43089E}" destId="{AF7CAB09-9475-584B-A73D-F70AA4022F37}" srcOrd="18" destOrd="0" presId="urn:microsoft.com/office/officeart/2005/8/layout/process4"/>
    <dgm:cxn modelId="{942C69C4-AF6D-C548-BE12-491B5E8D1F7C}" type="presParOf" srcId="{AF7CAB09-9475-584B-A73D-F70AA4022F37}" destId="{AAAC8DEC-1AF0-1143-96AE-D6EF3139784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BF4A86-E5E0-40C3-AD2A-3955A53B81A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888E8E5-D413-4AA5-A36E-A74755A940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Source: 2024 Behavioral Risk Factor Surveillance System (BRFSS)</a:t>
          </a:r>
        </a:p>
      </dgm:t>
    </dgm:pt>
    <dgm:pt modelId="{BDF154DA-997D-41D8-8C8A-81892ABA3574}" type="parTrans" cxnId="{9CEE63CC-126C-427E-B5BB-A350D166E5E6}">
      <dgm:prSet/>
      <dgm:spPr/>
      <dgm:t>
        <a:bodyPr/>
        <a:lstStyle/>
        <a:p>
          <a:endParaRPr lang="en-US"/>
        </a:p>
      </dgm:t>
    </dgm:pt>
    <dgm:pt modelId="{FE1EE7BD-A25E-461F-8DFD-D4C1F1A2E128}" type="sibTrans" cxnId="{9CEE63CC-126C-427E-B5BB-A350D166E5E6}">
      <dgm:prSet/>
      <dgm:spPr/>
      <dgm:t>
        <a:bodyPr/>
        <a:lstStyle/>
        <a:p>
          <a:endParaRPr lang="en-US"/>
        </a:p>
      </dgm:t>
    </dgm:pt>
    <dgm:pt modelId="{79819F38-A3DA-4693-9D62-BE7C8DAEC8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Cross‑sectional analytic study</a:t>
          </a:r>
        </a:p>
      </dgm:t>
    </dgm:pt>
    <dgm:pt modelId="{5EE82D15-6EF4-43A7-A591-2CFB567EF99D}" type="parTrans" cxnId="{303D28C9-8205-4B3D-98A5-581AE4619C82}">
      <dgm:prSet/>
      <dgm:spPr/>
      <dgm:t>
        <a:bodyPr/>
        <a:lstStyle/>
        <a:p>
          <a:endParaRPr lang="en-US"/>
        </a:p>
      </dgm:t>
    </dgm:pt>
    <dgm:pt modelId="{653CB7EC-C161-44F5-B1C3-8A46B2D37782}" type="sibTrans" cxnId="{303D28C9-8205-4B3D-98A5-581AE4619C82}">
      <dgm:prSet/>
      <dgm:spPr/>
      <dgm:t>
        <a:bodyPr/>
        <a:lstStyle/>
        <a:p>
          <a:endParaRPr lang="en-US"/>
        </a:p>
      </dgm:t>
    </dgm:pt>
    <dgm:pt modelId="{C48B4BA6-B05D-49BB-A0EB-F43504B1E3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Analysis conducted using RStudio (2025.09.2+418)</a:t>
          </a:r>
        </a:p>
      </dgm:t>
    </dgm:pt>
    <dgm:pt modelId="{7B7430F5-CDEF-4752-BFA9-4082D7BBF52A}" type="parTrans" cxnId="{76B4095B-CD4E-4A4E-BB11-2D357A8C308F}">
      <dgm:prSet/>
      <dgm:spPr/>
      <dgm:t>
        <a:bodyPr/>
        <a:lstStyle/>
        <a:p>
          <a:endParaRPr lang="en-US"/>
        </a:p>
      </dgm:t>
    </dgm:pt>
    <dgm:pt modelId="{CAA35D4F-19FE-4780-8A6A-B94FB6DDBB3F}" type="sibTrans" cxnId="{76B4095B-CD4E-4A4E-BB11-2D357A8C308F}">
      <dgm:prSet/>
      <dgm:spPr/>
      <dgm:t>
        <a:bodyPr/>
        <a:lstStyle/>
        <a:p>
          <a:endParaRPr lang="en-US"/>
        </a:p>
      </dgm:t>
    </dgm:pt>
    <dgm:pt modelId="{1BBFA74B-6D89-4135-9AFA-CDA2F5F813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Logistic regression models used to evaluate screening adherence</a:t>
          </a:r>
        </a:p>
      </dgm:t>
    </dgm:pt>
    <dgm:pt modelId="{80A5B63F-6D09-4559-A0D4-16B070BD6CD6}" type="parTrans" cxnId="{4CA91E5E-12F3-4BEC-9E4E-F4915F94FABC}">
      <dgm:prSet/>
      <dgm:spPr/>
      <dgm:t>
        <a:bodyPr/>
        <a:lstStyle/>
        <a:p>
          <a:endParaRPr lang="en-US"/>
        </a:p>
      </dgm:t>
    </dgm:pt>
    <dgm:pt modelId="{1C2E7ABE-25D9-4103-966F-2FB2334B195D}" type="sibTrans" cxnId="{4CA91E5E-12F3-4BEC-9E4E-F4915F94FABC}">
      <dgm:prSet/>
      <dgm:spPr/>
      <dgm:t>
        <a:bodyPr/>
        <a:lstStyle/>
        <a:p>
          <a:endParaRPr lang="en-US"/>
        </a:p>
      </dgm:t>
    </dgm:pt>
    <dgm:pt modelId="{FE970797-2F0E-449B-B0D7-6A28E85A2BCB}" type="pres">
      <dgm:prSet presAssocID="{0EBF4A86-E5E0-40C3-AD2A-3955A53B81AD}" presName="root" presStyleCnt="0">
        <dgm:presLayoutVars>
          <dgm:dir/>
          <dgm:resizeHandles val="exact"/>
        </dgm:presLayoutVars>
      </dgm:prSet>
      <dgm:spPr/>
    </dgm:pt>
    <dgm:pt modelId="{320E7B15-0277-4F87-A8BC-749C5B2F42DF}" type="pres">
      <dgm:prSet presAssocID="{4888E8E5-D413-4AA5-A36E-A74755A94020}" presName="compNode" presStyleCnt="0"/>
      <dgm:spPr/>
    </dgm:pt>
    <dgm:pt modelId="{E890D807-919B-4935-AA37-38EE92AA0A2C}" type="pres">
      <dgm:prSet presAssocID="{4888E8E5-D413-4AA5-A36E-A74755A94020}" presName="bgRect" presStyleLbl="bgShp" presStyleIdx="0" presStyleCnt="4"/>
      <dgm:spPr/>
    </dgm:pt>
    <dgm:pt modelId="{2365100D-6EF7-4C1A-9F31-566BC2D1AD1F}" type="pres">
      <dgm:prSet presAssocID="{4888E8E5-D413-4AA5-A36E-A74755A940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C4A7E804-9F9B-4056-99D9-1798573AEF0C}" type="pres">
      <dgm:prSet presAssocID="{4888E8E5-D413-4AA5-A36E-A74755A94020}" presName="spaceRect" presStyleCnt="0"/>
      <dgm:spPr/>
    </dgm:pt>
    <dgm:pt modelId="{62B21729-E15D-4CD2-BB63-2476DD3D0ED3}" type="pres">
      <dgm:prSet presAssocID="{4888E8E5-D413-4AA5-A36E-A74755A94020}" presName="parTx" presStyleLbl="revTx" presStyleIdx="0" presStyleCnt="4">
        <dgm:presLayoutVars>
          <dgm:chMax val="0"/>
          <dgm:chPref val="0"/>
        </dgm:presLayoutVars>
      </dgm:prSet>
      <dgm:spPr/>
    </dgm:pt>
    <dgm:pt modelId="{A27A0EFF-995F-4F5B-AAD8-486DF744E28D}" type="pres">
      <dgm:prSet presAssocID="{FE1EE7BD-A25E-461F-8DFD-D4C1F1A2E128}" presName="sibTrans" presStyleCnt="0"/>
      <dgm:spPr/>
    </dgm:pt>
    <dgm:pt modelId="{C135326D-FAA2-4153-BE73-08F659EAAB56}" type="pres">
      <dgm:prSet presAssocID="{79819F38-A3DA-4693-9D62-BE7C8DAEC8C4}" presName="compNode" presStyleCnt="0"/>
      <dgm:spPr/>
    </dgm:pt>
    <dgm:pt modelId="{FED3C88C-1496-4AA5-863C-600677F73C18}" type="pres">
      <dgm:prSet presAssocID="{79819F38-A3DA-4693-9D62-BE7C8DAEC8C4}" presName="bgRect" presStyleLbl="bgShp" presStyleIdx="1" presStyleCnt="4"/>
      <dgm:spPr/>
    </dgm:pt>
    <dgm:pt modelId="{B1AF49E0-EAE5-4EF1-BB39-231D1B2B718C}" type="pres">
      <dgm:prSet presAssocID="{79819F38-A3DA-4693-9D62-BE7C8DAEC8C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A7164D9-34CC-4945-AC93-9F67E3984D10}" type="pres">
      <dgm:prSet presAssocID="{79819F38-A3DA-4693-9D62-BE7C8DAEC8C4}" presName="spaceRect" presStyleCnt="0"/>
      <dgm:spPr/>
    </dgm:pt>
    <dgm:pt modelId="{70755B9F-BB62-49F8-84BB-D8F0D732D8DD}" type="pres">
      <dgm:prSet presAssocID="{79819F38-A3DA-4693-9D62-BE7C8DAEC8C4}" presName="parTx" presStyleLbl="revTx" presStyleIdx="1" presStyleCnt="4">
        <dgm:presLayoutVars>
          <dgm:chMax val="0"/>
          <dgm:chPref val="0"/>
        </dgm:presLayoutVars>
      </dgm:prSet>
      <dgm:spPr/>
    </dgm:pt>
    <dgm:pt modelId="{78C8D2C0-8A11-4E60-80EA-BBA03DD7652A}" type="pres">
      <dgm:prSet presAssocID="{653CB7EC-C161-44F5-B1C3-8A46B2D37782}" presName="sibTrans" presStyleCnt="0"/>
      <dgm:spPr/>
    </dgm:pt>
    <dgm:pt modelId="{9644EAB5-6106-418E-9A29-7ECFEA7E9C60}" type="pres">
      <dgm:prSet presAssocID="{C48B4BA6-B05D-49BB-A0EB-F43504B1E322}" presName="compNode" presStyleCnt="0"/>
      <dgm:spPr/>
    </dgm:pt>
    <dgm:pt modelId="{9DCA63FB-0CB5-44E6-85A1-0177EFB2C063}" type="pres">
      <dgm:prSet presAssocID="{C48B4BA6-B05D-49BB-A0EB-F43504B1E322}" presName="bgRect" presStyleLbl="bgShp" presStyleIdx="2" presStyleCnt="4"/>
      <dgm:spPr/>
    </dgm:pt>
    <dgm:pt modelId="{F15816CB-8F72-4562-A08F-0D712BE25AC2}" type="pres">
      <dgm:prSet presAssocID="{C48B4BA6-B05D-49BB-A0EB-F43504B1E32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3C36F850-7989-4E19-B313-BF46780D5277}" type="pres">
      <dgm:prSet presAssocID="{C48B4BA6-B05D-49BB-A0EB-F43504B1E322}" presName="spaceRect" presStyleCnt="0"/>
      <dgm:spPr/>
    </dgm:pt>
    <dgm:pt modelId="{0781856A-B359-44FD-900D-D9F62664FE01}" type="pres">
      <dgm:prSet presAssocID="{C48B4BA6-B05D-49BB-A0EB-F43504B1E322}" presName="parTx" presStyleLbl="revTx" presStyleIdx="2" presStyleCnt="4">
        <dgm:presLayoutVars>
          <dgm:chMax val="0"/>
          <dgm:chPref val="0"/>
        </dgm:presLayoutVars>
      </dgm:prSet>
      <dgm:spPr/>
    </dgm:pt>
    <dgm:pt modelId="{790218E6-78EA-4F97-AC1F-6BBE039AD7D6}" type="pres">
      <dgm:prSet presAssocID="{CAA35D4F-19FE-4780-8A6A-B94FB6DDBB3F}" presName="sibTrans" presStyleCnt="0"/>
      <dgm:spPr/>
    </dgm:pt>
    <dgm:pt modelId="{91D9F50E-47D6-4F7B-9DC1-2307AA97BC22}" type="pres">
      <dgm:prSet presAssocID="{1BBFA74B-6D89-4135-9AFA-CDA2F5F813F8}" presName="compNode" presStyleCnt="0"/>
      <dgm:spPr/>
    </dgm:pt>
    <dgm:pt modelId="{3405E16F-1D91-40B8-838F-1870C080370D}" type="pres">
      <dgm:prSet presAssocID="{1BBFA74B-6D89-4135-9AFA-CDA2F5F813F8}" presName="bgRect" presStyleLbl="bgShp" presStyleIdx="3" presStyleCnt="4"/>
      <dgm:spPr/>
    </dgm:pt>
    <dgm:pt modelId="{D1770ADC-E40C-4A87-956B-11D3E5FB6B39}" type="pres">
      <dgm:prSet presAssocID="{1BBFA74B-6D89-4135-9AFA-CDA2F5F813F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5E05D6A-F9D9-45F8-A484-AFF9D9953004}" type="pres">
      <dgm:prSet presAssocID="{1BBFA74B-6D89-4135-9AFA-CDA2F5F813F8}" presName="spaceRect" presStyleCnt="0"/>
      <dgm:spPr/>
    </dgm:pt>
    <dgm:pt modelId="{BAC84D93-80C7-42C4-844E-6162B032D598}" type="pres">
      <dgm:prSet presAssocID="{1BBFA74B-6D89-4135-9AFA-CDA2F5F813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2326A29-61B1-4892-8CA4-7EDE38290547}" type="presOf" srcId="{0EBF4A86-E5E0-40C3-AD2A-3955A53B81AD}" destId="{FE970797-2F0E-449B-B0D7-6A28E85A2BCB}" srcOrd="0" destOrd="0" presId="urn:microsoft.com/office/officeart/2018/2/layout/IconVerticalSolidList"/>
    <dgm:cxn modelId="{8BA5C739-B4EF-4AE4-B13C-C34AFEE167F0}" type="presOf" srcId="{1BBFA74B-6D89-4135-9AFA-CDA2F5F813F8}" destId="{BAC84D93-80C7-42C4-844E-6162B032D598}" srcOrd="0" destOrd="0" presId="urn:microsoft.com/office/officeart/2018/2/layout/IconVerticalSolidList"/>
    <dgm:cxn modelId="{AF429D47-1398-4B9A-BE80-26F20D3303C7}" type="presOf" srcId="{C48B4BA6-B05D-49BB-A0EB-F43504B1E322}" destId="{0781856A-B359-44FD-900D-D9F62664FE01}" srcOrd="0" destOrd="0" presId="urn:microsoft.com/office/officeart/2018/2/layout/IconVerticalSolidList"/>
    <dgm:cxn modelId="{76B4095B-CD4E-4A4E-BB11-2D357A8C308F}" srcId="{0EBF4A86-E5E0-40C3-AD2A-3955A53B81AD}" destId="{C48B4BA6-B05D-49BB-A0EB-F43504B1E322}" srcOrd="2" destOrd="0" parTransId="{7B7430F5-CDEF-4752-BFA9-4082D7BBF52A}" sibTransId="{CAA35D4F-19FE-4780-8A6A-B94FB6DDBB3F}"/>
    <dgm:cxn modelId="{4CA91E5E-12F3-4BEC-9E4E-F4915F94FABC}" srcId="{0EBF4A86-E5E0-40C3-AD2A-3955A53B81AD}" destId="{1BBFA74B-6D89-4135-9AFA-CDA2F5F813F8}" srcOrd="3" destOrd="0" parTransId="{80A5B63F-6D09-4559-A0D4-16B070BD6CD6}" sibTransId="{1C2E7ABE-25D9-4103-966F-2FB2334B195D}"/>
    <dgm:cxn modelId="{C3BC0A9D-AD01-4D47-9664-9615F551F426}" type="presOf" srcId="{79819F38-A3DA-4693-9D62-BE7C8DAEC8C4}" destId="{70755B9F-BB62-49F8-84BB-D8F0D732D8DD}" srcOrd="0" destOrd="0" presId="urn:microsoft.com/office/officeart/2018/2/layout/IconVerticalSolidList"/>
    <dgm:cxn modelId="{303D28C9-8205-4B3D-98A5-581AE4619C82}" srcId="{0EBF4A86-E5E0-40C3-AD2A-3955A53B81AD}" destId="{79819F38-A3DA-4693-9D62-BE7C8DAEC8C4}" srcOrd="1" destOrd="0" parTransId="{5EE82D15-6EF4-43A7-A591-2CFB567EF99D}" sibTransId="{653CB7EC-C161-44F5-B1C3-8A46B2D37782}"/>
    <dgm:cxn modelId="{9CEE63CC-126C-427E-B5BB-A350D166E5E6}" srcId="{0EBF4A86-E5E0-40C3-AD2A-3955A53B81AD}" destId="{4888E8E5-D413-4AA5-A36E-A74755A94020}" srcOrd="0" destOrd="0" parTransId="{BDF154DA-997D-41D8-8C8A-81892ABA3574}" sibTransId="{FE1EE7BD-A25E-461F-8DFD-D4C1F1A2E128}"/>
    <dgm:cxn modelId="{40005CFA-2B98-49E9-BB05-FC1AD359738B}" type="presOf" srcId="{4888E8E5-D413-4AA5-A36E-A74755A94020}" destId="{62B21729-E15D-4CD2-BB63-2476DD3D0ED3}" srcOrd="0" destOrd="0" presId="urn:microsoft.com/office/officeart/2018/2/layout/IconVerticalSolidList"/>
    <dgm:cxn modelId="{3430623C-DA40-400B-894F-B43CCE6DE7AD}" type="presParOf" srcId="{FE970797-2F0E-449B-B0D7-6A28E85A2BCB}" destId="{320E7B15-0277-4F87-A8BC-749C5B2F42DF}" srcOrd="0" destOrd="0" presId="urn:microsoft.com/office/officeart/2018/2/layout/IconVerticalSolidList"/>
    <dgm:cxn modelId="{142F0D7C-9BBE-490D-B166-1E44365DC7E2}" type="presParOf" srcId="{320E7B15-0277-4F87-A8BC-749C5B2F42DF}" destId="{E890D807-919B-4935-AA37-38EE92AA0A2C}" srcOrd="0" destOrd="0" presId="urn:microsoft.com/office/officeart/2018/2/layout/IconVerticalSolidList"/>
    <dgm:cxn modelId="{4D5100C3-9599-4083-B4EF-8AB09E693339}" type="presParOf" srcId="{320E7B15-0277-4F87-A8BC-749C5B2F42DF}" destId="{2365100D-6EF7-4C1A-9F31-566BC2D1AD1F}" srcOrd="1" destOrd="0" presId="urn:microsoft.com/office/officeart/2018/2/layout/IconVerticalSolidList"/>
    <dgm:cxn modelId="{4483E9E5-8F64-4092-BE48-A94ECAA455C0}" type="presParOf" srcId="{320E7B15-0277-4F87-A8BC-749C5B2F42DF}" destId="{C4A7E804-9F9B-4056-99D9-1798573AEF0C}" srcOrd="2" destOrd="0" presId="urn:microsoft.com/office/officeart/2018/2/layout/IconVerticalSolidList"/>
    <dgm:cxn modelId="{9F54D474-71A5-46C9-975A-E4197A1A7F1F}" type="presParOf" srcId="{320E7B15-0277-4F87-A8BC-749C5B2F42DF}" destId="{62B21729-E15D-4CD2-BB63-2476DD3D0ED3}" srcOrd="3" destOrd="0" presId="urn:microsoft.com/office/officeart/2018/2/layout/IconVerticalSolidList"/>
    <dgm:cxn modelId="{1D6086C2-1508-4012-A715-77D5F53672B7}" type="presParOf" srcId="{FE970797-2F0E-449B-B0D7-6A28E85A2BCB}" destId="{A27A0EFF-995F-4F5B-AAD8-486DF744E28D}" srcOrd="1" destOrd="0" presId="urn:microsoft.com/office/officeart/2018/2/layout/IconVerticalSolidList"/>
    <dgm:cxn modelId="{E90DCE65-8EE6-4870-8780-F41E81D04B0E}" type="presParOf" srcId="{FE970797-2F0E-449B-B0D7-6A28E85A2BCB}" destId="{C135326D-FAA2-4153-BE73-08F659EAAB56}" srcOrd="2" destOrd="0" presId="urn:microsoft.com/office/officeart/2018/2/layout/IconVerticalSolidList"/>
    <dgm:cxn modelId="{3D9CC33D-E3BE-4DF7-90B9-E6A66651F60D}" type="presParOf" srcId="{C135326D-FAA2-4153-BE73-08F659EAAB56}" destId="{FED3C88C-1496-4AA5-863C-600677F73C18}" srcOrd="0" destOrd="0" presId="urn:microsoft.com/office/officeart/2018/2/layout/IconVerticalSolidList"/>
    <dgm:cxn modelId="{568806BD-093D-4E8B-A0FE-7C028AC79C1B}" type="presParOf" srcId="{C135326D-FAA2-4153-BE73-08F659EAAB56}" destId="{B1AF49E0-EAE5-4EF1-BB39-231D1B2B718C}" srcOrd="1" destOrd="0" presId="urn:microsoft.com/office/officeart/2018/2/layout/IconVerticalSolidList"/>
    <dgm:cxn modelId="{29EC532E-6616-4DE0-B807-B384DB92F029}" type="presParOf" srcId="{C135326D-FAA2-4153-BE73-08F659EAAB56}" destId="{8A7164D9-34CC-4945-AC93-9F67E3984D10}" srcOrd="2" destOrd="0" presId="urn:microsoft.com/office/officeart/2018/2/layout/IconVerticalSolidList"/>
    <dgm:cxn modelId="{284E00C8-7E28-4EED-87B1-570D549D0186}" type="presParOf" srcId="{C135326D-FAA2-4153-BE73-08F659EAAB56}" destId="{70755B9F-BB62-49F8-84BB-D8F0D732D8DD}" srcOrd="3" destOrd="0" presId="urn:microsoft.com/office/officeart/2018/2/layout/IconVerticalSolidList"/>
    <dgm:cxn modelId="{D25CAEE2-EEDF-451A-A52F-120882AD4C9A}" type="presParOf" srcId="{FE970797-2F0E-449B-B0D7-6A28E85A2BCB}" destId="{78C8D2C0-8A11-4E60-80EA-BBA03DD7652A}" srcOrd="3" destOrd="0" presId="urn:microsoft.com/office/officeart/2018/2/layout/IconVerticalSolidList"/>
    <dgm:cxn modelId="{7316F5BE-F40E-4EFD-9AA9-949E22DA5C45}" type="presParOf" srcId="{FE970797-2F0E-449B-B0D7-6A28E85A2BCB}" destId="{9644EAB5-6106-418E-9A29-7ECFEA7E9C60}" srcOrd="4" destOrd="0" presId="urn:microsoft.com/office/officeart/2018/2/layout/IconVerticalSolidList"/>
    <dgm:cxn modelId="{98DA150F-19EF-42C8-93A5-E4222B1480FE}" type="presParOf" srcId="{9644EAB5-6106-418E-9A29-7ECFEA7E9C60}" destId="{9DCA63FB-0CB5-44E6-85A1-0177EFB2C063}" srcOrd="0" destOrd="0" presId="urn:microsoft.com/office/officeart/2018/2/layout/IconVerticalSolidList"/>
    <dgm:cxn modelId="{1E994790-732E-4628-9A4F-3B2C776BB152}" type="presParOf" srcId="{9644EAB5-6106-418E-9A29-7ECFEA7E9C60}" destId="{F15816CB-8F72-4562-A08F-0D712BE25AC2}" srcOrd="1" destOrd="0" presId="urn:microsoft.com/office/officeart/2018/2/layout/IconVerticalSolidList"/>
    <dgm:cxn modelId="{3BF3C75D-FF4F-455C-B229-5FE11DD1002A}" type="presParOf" srcId="{9644EAB5-6106-418E-9A29-7ECFEA7E9C60}" destId="{3C36F850-7989-4E19-B313-BF46780D5277}" srcOrd="2" destOrd="0" presId="urn:microsoft.com/office/officeart/2018/2/layout/IconVerticalSolidList"/>
    <dgm:cxn modelId="{6EF1D14F-526D-4D6F-AAAD-B91703238BD5}" type="presParOf" srcId="{9644EAB5-6106-418E-9A29-7ECFEA7E9C60}" destId="{0781856A-B359-44FD-900D-D9F62664FE01}" srcOrd="3" destOrd="0" presId="urn:microsoft.com/office/officeart/2018/2/layout/IconVerticalSolidList"/>
    <dgm:cxn modelId="{A55608AF-A1EA-44D7-A85A-5E92A257DB49}" type="presParOf" srcId="{FE970797-2F0E-449B-B0D7-6A28E85A2BCB}" destId="{790218E6-78EA-4F97-AC1F-6BBE039AD7D6}" srcOrd="5" destOrd="0" presId="urn:microsoft.com/office/officeart/2018/2/layout/IconVerticalSolidList"/>
    <dgm:cxn modelId="{1E9D5688-109E-424D-B9A5-7FA71F42EB8C}" type="presParOf" srcId="{FE970797-2F0E-449B-B0D7-6A28E85A2BCB}" destId="{91D9F50E-47D6-4F7B-9DC1-2307AA97BC22}" srcOrd="6" destOrd="0" presId="urn:microsoft.com/office/officeart/2018/2/layout/IconVerticalSolidList"/>
    <dgm:cxn modelId="{0F6A8A2A-8709-4DB9-A0E5-798697FAA064}" type="presParOf" srcId="{91D9F50E-47D6-4F7B-9DC1-2307AA97BC22}" destId="{3405E16F-1D91-40B8-838F-1870C080370D}" srcOrd="0" destOrd="0" presId="urn:microsoft.com/office/officeart/2018/2/layout/IconVerticalSolidList"/>
    <dgm:cxn modelId="{6A6E521B-67C1-4B98-8DCE-6FB25C952175}" type="presParOf" srcId="{91D9F50E-47D6-4F7B-9DC1-2307AA97BC22}" destId="{D1770ADC-E40C-4A87-956B-11D3E5FB6B39}" srcOrd="1" destOrd="0" presId="urn:microsoft.com/office/officeart/2018/2/layout/IconVerticalSolidList"/>
    <dgm:cxn modelId="{885909B5-10C7-441E-85E5-C7FBB4854B59}" type="presParOf" srcId="{91D9F50E-47D6-4F7B-9DC1-2307AA97BC22}" destId="{95E05D6A-F9D9-45F8-A484-AFF9D9953004}" srcOrd="2" destOrd="0" presId="urn:microsoft.com/office/officeart/2018/2/layout/IconVerticalSolidList"/>
    <dgm:cxn modelId="{A953D3F3-2549-4436-9C22-5A80E4FE4717}" type="presParOf" srcId="{91D9F50E-47D6-4F7B-9DC1-2307AA97BC22}" destId="{BAC84D93-80C7-42C4-844E-6162B032D5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A6BAB0-2BD6-4049-A2BF-BDCFC117777B}" type="doc">
      <dgm:prSet loTypeId="urn:microsoft.com/office/officeart/2005/8/layout/cycle6" loCatId="list" qsTypeId="urn:microsoft.com/office/officeart/2005/8/quickstyle/simple3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67A57825-18E4-FE41-A08A-7E4E3E92FB43}">
      <dgm:prSet/>
      <dgm:spPr/>
      <dgm:t>
        <a:bodyPr/>
        <a:lstStyle/>
        <a:p>
          <a:r>
            <a:rPr lang="en-US" b="1"/>
            <a:t>Key Indicators: </a:t>
          </a:r>
          <a:endParaRPr lang="en-US"/>
        </a:p>
      </dgm:t>
    </dgm:pt>
    <dgm:pt modelId="{F69E6F0C-40FB-8143-B02A-C7734EB10109}" type="parTrans" cxnId="{2367FCE9-692A-3F4A-88D2-204FE53083D8}">
      <dgm:prSet/>
      <dgm:spPr/>
      <dgm:t>
        <a:bodyPr/>
        <a:lstStyle/>
        <a:p>
          <a:endParaRPr lang="en-US"/>
        </a:p>
      </dgm:t>
    </dgm:pt>
    <dgm:pt modelId="{CC54594A-A40E-1544-BB2E-22F0B91E47ED}" type="sibTrans" cxnId="{2367FCE9-692A-3F4A-88D2-204FE53083D8}">
      <dgm:prSet/>
      <dgm:spPr/>
      <dgm:t>
        <a:bodyPr/>
        <a:lstStyle/>
        <a:p>
          <a:endParaRPr lang="en-US"/>
        </a:p>
      </dgm:t>
    </dgm:pt>
    <dgm:pt modelId="{9F63F493-C34D-7042-876B-1EE20AAF1133}">
      <dgm:prSet/>
      <dgm:spPr/>
      <dgm:t>
        <a:bodyPr/>
        <a:lstStyle/>
        <a:p>
          <a:r>
            <a:rPr lang="en-US" dirty="0"/>
            <a:t>Recent Routine Checkup </a:t>
          </a:r>
        </a:p>
      </dgm:t>
    </dgm:pt>
    <dgm:pt modelId="{FE3C7CF6-47F9-2042-872B-17BEFF9DD409}" type="parTrans" cxnId="{2EE4B3F0-06C9-034E-916F-9497DEEEA0E1}">
      <dgm:prSet/>
      <dgm:spPr/>
      <dgm:t>
        <a:bodyPr/>
        <a:lstStyle/>
        <a:p>
          <a:endParaRPr lang="en-US"/>
        </a:p>
      </dgm:t>
    </dgm:pt>
    <dgm:pt modelId="{AE6E66EA-CBB5-4B45-8DD4-0804A0BF4C88}" type="sibTrans" cxnId="{2EE4B3F0-06C9-034E-916F-9497DEEEA0E1}">
      <dgm:prSet/>
      <dgm:spPr/>
      <dgm:t>
        <a:bodyPr/>
        <a:lstStyle/>
        <a:p>
          <a:endParaRPr lang="en-US"/>
        </a:p>
      </dgm:t>
    </dgm:pt>
    <dgm:pt modelId="{692B2286-0215-EA4C-9F6E-F968DD1CDD8E}">
      <dgm:prSet/>
      <dgm:spPr/>
      <dgm:t>
        <a:bodyPr/>
        <a:lstStyle/>
        <a:p>
          <a:r>
            <a:rPr lang="en-US" dirty="0"/>
            <a:t>Having a Personal Doctor </a:t>
          </a:r>
        </a:p>
      </dgm:t>
    </dgm:pt>
    <dgm:pt modelId="{F961115B-41A5-A043-BC05-F3E1512669E4}" type="parTrans" cxnId="{8251A0CE-7898-C24E-BD7F-24979608E647}">
      <dgm:prSet/>
      <dgm:spPr/>
      <dgm:t>
        <a:bodyPr/>
        <a:lstStyle/>
        <a:p>
          <a:endParaRPr lang="en-US"/>
        </a:p>
      </dgm:t>
    </dgm:pt>
    <dgm:pt modelId="{5076DCF2-1D96-8F4D-9E22-55574D37512C}" type="sibTrans" cxnId="{8251A0CE-7898-C24E-BD7F-24979608E647}">
      <dgm:prSet/>
      <dgm:spPr/>
      <dgm:t>
        <a:bodyPr/>
        <a:lstStyle/>
        <a:p>
          <a:endParaRPr lang="en-US"/>
        </a:p>
      </dgm:t>
    </dgm:pt>
    <dgm:pt modelId="{BAFD2CF7-663A-A34D-B3E1-458BD685306A}">
      <dgm:prSet/>
      <dgm:spPr/>
      <dgm:t>
        <a:bodyPr/>
        <a:lstStyle/>
        <a:p>
          <a:r>
            <a:rPr lang="en-US"/>
            <a:t>Insured vs Uninsured (With Personal Provider)</a:t>
          </a:r>
        </a:p>
      </dgm:t>
    </dgm:pt>
    <dgm:pt modelId="{B9CEDF92-BD59-854C-8076-EBE508C8A04B}" type="parTrans" cxnId="{37C27FE2-86A6-384B-8B8A-DCB1FB97739F}">
      <dgm:prSet/>
      <dgm:spPr/>
      <dgm:t>
        <a:bodyPr/>
        <a:lstStyle/>
        <a:p>
          <a:endParaRPr lang="en-US"/>
        </a:p>
      </dgm:t>
    </dgm:pt>
    <dgm:pt modelId="{749B0A2E-565D-5E4C-A034-C4EEA0523ED4}" type="sibTrans" cxnId="{37C27FE2-86A6-384B-8B8A-DCB1FB97739F}">
      <dgm:prSet/>
      <dgm:spPr/>
      <dgm:t>
        <a:bodyPr/>
        <a:lstStyle/>
        <a:p>
          <a:endParaRPr lang="en-US"/>
        </a:p>
      </dgm:t>
    </dgm:pt>
    <dgm:pt modelId="{273934AF-83DC-C344-AB96-23F5535A8A92}">
      <dgm:prSet/>
      <dgm:spPr/>
      <dgm:t>
        <a:bodyPr/>
        <a:lstStyle/>
        <a:p>
          <a:r>
            <a:rPr lang="en-US"/>
            <a:t>Cost Related Barriers</a:t>
          </a:r>
        </a:p>
      </dgm:t>
    </dgm:pt>
    <dgm:pt modelId="{EA2B6F3B-2423-BE46-9FE2-B5323286EB2E}" type="parTrans" cxnId="{DFED9A12-E29D-5646-B146-FE58FFF95899}">
      <dgm:prSet/>
      <dgm:spPr/>
      <dgm:t>
        <a:bodyPr/>
        <a:lstStyle/>
        <a:p>
          <a:endParaRPr lang="en-US"/>
        </a:p>
      </dgm:t>
    </dgm:pt>
    <dgm:pt modelId="{2C639F8D-FF68-C447-891A-65A26E33A82E}" type="sibTrans" cxnId="{DFED9A12-E29D-5646-B146-FE58FFF95899}">
      <dgm:prSet/>
      <dgm:spPr/>
      <dgm:t>
        <a:bodyPr/>
        <a:lstStyle/>
        <a:p>
          <a:endParaRPr lang="en-US"/>
        </a:p>
      </dgm:t>
    </dgm:pt>
    <dgm:pt modelId="{D1D3BABF-3902-6748-98BC-938B92A85C32}">
      <dgm:prSet/>
      <dgm:spPr/>
      <dgm:t>
        <a:bodyPr/>
        <a:lstStyle/>
        <a:p>
          <a:r>
            <a:rPr lang="en-US"/>
            <a:t>Race/ Ethnicity </a:t>
          </a:r>
        </a:p>
      </dgm:t>
    </dgm:pt>
    <dgm:pt modelId="{3F9F496B-34BE-2745-8B3B-888542C65BB3}" type="parTrans" cxnId="{88841A89-8FAA-DE4A-8C33-A588D1948112}">
      <dgm:prSet/>
      <dgm:spPr/>
      <dgm:t>
        <a:bodyPr/>
        <a:lstStyle/>
        <a:p>
          <a:endParaRPr lang="en-US"/>
        </a:p>
      </dgm:t>
    </dgm:pt>
    <dgm:pt modelId="{827EA087-4D39-4C4D-BDD2-57668CCF9313}" type="sibTrans" cxnId="{88841A89-8FAA-DE4A-8C33-A588D1948112}">
      <dgm:prSet/>
      <dgm:spPr/>
      <dgm:t>
        <a:bodyPr/>
        <a:lstStyle/>
        <a:p>
          <a:endParaRPr lang="en-US"/>
        </a:p>
      </dgm:t>
    </dgm:pt>
    <dgm:pt modelId="{039EF389-547E-BF4D-B82E-F65ABE9CFF4F}" type="pres">
      <dgm:prSet presAssocID="{C5A6BAB0-2BD6-4049-A2BF-BDCFC117777B}" presName="cycle" presStyleCnt="0">
        <dgm:presLayoutVars>
          <dgm:dir/>
          <dgm:resizeHandles val="exact"/>
        </dgm:presLayoutVars>
      </dgm:prSet>
      <dgm:spPr/>
    </dgm:pt>
    <dgm:pt modelId="{517C4EA0-7AC1-8C41-8AF6-7817DFFD8CB0}" type="pres">
      <dgm:prSet presAssocID="{67A57825-18E4-FE41-A08A-7E4E3E92FB43}" presName="node" presStyleLbl="node1" presStyleIdx="0" presStyleCnt="1">
        <dgm:presLayoutVars>
          <dgm:bulletEnabled val="1"/>
        </dgm:presLayoutVars>
      </dgm:prSet>
      <dgm:spPr/>
    </dgm:pt>
  </dgm:ptLst>
  <dgm:cxnLst>
    <dgm:cxn modelId="{DFED9A12-E29D-5646-B146-FE58FFF95899}" srcId="{67A57825-18E4-FE41-A08A-7E4E3E92FB43}" destId="{273934AF-83DC-C344-AB96-23F5535A8A92}" srcOrd="3" destOrd="0" parTransId="{EA2B6F3B-2423-BE46-9FE2-B5323286EB2E}" sibTransId="{2C639F8D-FF68-C447-891A-65A26E33A82E}"/>
    <dgm:cxn modelId="{D24C6829-A424-BF4C-9A11-29C327482C30}" type="presOf" srcId="{692B2286-0215-EA4C-9F6E-F968DD1CDD8E}" destId="{517C4EA0-7AC1-8C41-8AF6-7817DFFD8CB0}" srcOrd="0" destOrd="2" presId="urn:microsoft.com/office/officeart/2005/8/layout/cycle6"/>
    <dgm:cxn modelId="{98D67644-F424-7F4A-946A-6B4DDAC83408}" type="presOf" srcId="{D1D3BABF-3902-6748-98BC-938B92A85C32}" destId="{517C4EA0-7AC1-8C41-8AF6-7817DFFD8CB0}" srcOrd="0" destOrd="5" presId="urn:microsoft.com/office/officeart/2005/8/layout/cycle6"/>
    <dgm:cxn modelId="{CBACDB69-46D6-4149-BA8F-6142A2E11919}" type="presOf" srcId="{BAFD2CF7-663A-A34D-B3E1-458BD685306A}" destId="{517C4EA0-7AC1-8C41-8AF6-7817DFFD8CB0}" srcOrd="0" destOrd="3" presId="urn:microsoft.com/office/officeart/2005/8/layout/cycle6"/>
    <dgm:cxn modelId="{08E99872-8768-9647-A6E7-7A751D5E3E6E}" type="presOf" srcId="{C5A6BAB0-2BD6-4049-A2BF-BDCFC117777B}" destId="{039EF389-547E-BF4D-B82E-F65ABE9CFF4F}" srcOrd="0" destOrd="0" presId="urn:microsoft.com/office/officeart/2005/8/layout/cycle6"/>
    <dgm:cxn modelId="{C3BD6577-3E66-5E43-B116-A3FB1CB23540}" type="presOf" srcId="{9F63F493-C34D-7042-876B-1EE20AAF1133}" destId="{517C4EA0-7AC1-8C41-8AF6-7817DFFD8CB0}" srcOrd="0" destOrd="1" presId="urn:microsoft.com/office/officeart/2005/8/layout/cycle6"/>
    <dgm:cxn modelId="{88841A89-8FAA-DE4A-8C33-A588D1948112}" srcId="{67A57825-18E4-FE41-A08A-7E4E3E92FB43}" destId="{D1D3BABF-3902-6748-98BC-938B92A85C32}" srcOrd="4" destOrd="0" parTransId="{3F9F496B-34BE-2745-8B3B-888542C65BB3}" sibTransId="{827EA087-4D39-4C4D-BDD2-57668CCF9313}"/>
    <dgm:cxn modelId="{8251A0CE-7898-C24E-BD7F-24979608E647}" srcId="{67A57825-18E4-FE41-A08A-7E4E3E92FB43}" destId="{692B2286-0215-EA4C-9F6E-F968DD1CDD8E}" srcOrd="1" destOrd="0" parTransId="{F961115B-41A5-A043-BC05-F3E1512669E4}" sibTransId="{5076DCF2-1D96-8F4D-9E22-55574D37512C}"/>
    <dgm:cxn modelId="{A60BBECE-166A-0B44-94EE-4B5C1CFD3AAD}" type="presOf" srcId="{273934AF-83DC-C344-AB96-23F5535A8A92}" destId="{517C4EA0-7AC1-8C41-8AF6-7817DFFD8CB0}" srcOrd="0" destOrd="4" presId="urn:microsoft.com/office/officeart/2005/8/layout/cycle6"/>
    <dgm:cxn modelId="{37C27FE2-86A6-384B-8B8A-DCB1FB97739F}" srcId="{67A57825-18E4-FE41-A08A-7E4E3E92FB43}" destId="{BAFD2CF7-663A-A34D-B3E1-458BD685306A}" srcOrd="2" destOrd="0" parTransId="{B9CEDF92-BD59-854C-8076-EBE508C8A04B}" sibTransId="{749B0A2E-565D-5E4C-A034-C4EEA0523ED4}"/>
    <dgm:cxn modelId="{2367FCE9-692A-3F4A-88D2-204FE53083D8}" srcId="{C5A6BAB0-2BD6-4049-A2BF-BDCFC117777B}" destId="{67A57825-18E4-FE41-A08A-7E4E3E92FB43}" srcOrd="0" destOrd="0" parTransId="{F69E6F0C-40FB-8143-B02A-C7734EB10109}" sibTransId="{CC54594A-A40E-1544-BB2E-22F0B91E47ED}"/>
    <dgm:cxn modelId="{2EE4B3F0-06C9-034E-916F-9497DEEEA0E1}" srcId="{67A57825-18E4-FE41-A08A-7E4E3E92FB43}" destId="{9F63F493-C34D-7042-876B-1EE20AAF1133}" srcOrd="0" destOrd="0" parTransId="{FE3C7CF6-47F9-2042-872B-17BEFF9DD409}" sibTransId="{AE6E66EA-CBB5-4B45-8DD4-0804A0BF4C88}"/>
    <dgm:cxn modelId="{8011BDF9-811B-7841-99BB-8D3BA49CA73F}" type="presOf" srcId="{67A57825-18E4-FE41-A08A-7E4E3E92FB43}" destId="{517C4EA0-7AC1-8C41-8AF6-7817DFFD8CB0}" srcOrd="0" destOrd="0" presId="urn:microsoft.com/office/officeart/2005/8/layout/cycle6"/>
    <dgm:cxn modelId="{A9E69B9F-3BAE-CA43-83E4-5CC94B9EB783}" type="presParOf" srcId="{039EF389-547E-BF4D-B82E-F65ABE9CFF4F}" destId="{517C4EA0-7AC1-8C41-8AF6-7817DFFD8CB0}" srcOrd="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02BF3C-7677-474A-B96B-0F73C93F623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B81FD5-4B1A-46CD-8AAC-690A19C18AFB}">
      <dgm:prSet/>
      <dgm:spPr/>
      <dgm:t>
        <a:bodyPr/>
        <a:lstStyle/>
        <a:p>
          <a:r>
            <a:rPr lang="en-US" b="1" i="1"/>
            <a:t>Research</a:t>
          </a:r>
          <a:endParaRPr lang="en-US"/>
        </a:p>
      </dgm:t>
    </dgm:pt>
    <dgm:pt modelId="{1C84E2DC-DCCB-4DC6-AF6E-210915463416}" type="parTrans" cxnId="{BBBAA4C9-5B48-4DA5-AFA1-55924ED89C71}">
      <dgm:prSet/>
      <dgm:spPr/>
      <dgm:t>
        <a:bodyPr/>
        <a:lstStyle/>
        <a:p>
          <a:endParaRPr lang="en-US"/>
        </a:p>
      </dgm:t>
    </dgm:pt>
    <dgm:pt modelId="{51A47945-A31A-4B47-9E47-F630CAEC7860}" type="sibTrans" cxnId="{BBBAA4C9-5B48-4DA5-AFA1-55924ED89C71}">
      <dgm:prSet/>
      <dgm:spPr/>
      <dgm:t>
        <a:bodyPr/>
        <a:lstStyle/>
        <a:p>
          <a:endParaRPr lang="en-US"/>
        </a:p>
      </dgm:t>
    </dgm:pt>
    <dgm:pt modelId="{5F9D0700-5937-4E49-BC16-4D5124BE4413}">
      <dgm:prSet/>
      <dgm:spPr/>
      <dgm:t>
        <a:bodyPr/>
        <a:lstStyle/>
        <a:p>
          <a:r>
            <a:rPr lang="en-US"/>
            <a:t>Longitudinal studies to establish causality between access factors and screening adherence.</a:t>
          </a:r>
        </a:p>
      </dgm:t>
    </dgm:pt>
    <dgm:pt modelId="{833F7EBE-9550-4AEB-AEFA-A2114DA65341}" type="parTrans" cxnId="{0297D80F-6F07-48F4-B10F-E1C13AAB028E}">
      <dgm:prSet/>
      <dgm:spPr/>
      <dgm:t>
        <a:bodyPr/>
        <a:lstStyle/>
        <a:p>
          <a:endParaRPr lang="en-US"/>
        </a:p>
      </dgm:t>
    </dgm:pt>
    <dgm:pt modelId="{E0F4B3DE-15C1-42BD-8CD1-3FDCCCCFD92C}" type="sibTrans" cxnId="{0297D80F-6F07-48F4-B10F-E1C13AAB028E}">
      <dgm:prSet/>
      <dgm:spPr/>
      <dgm:t>
        <a:bodyPr/>
        <a:lstStyle/>
        <a:p>
          <a:endParaRPr lang="en-US"/>
        </a:p>
      </dgm:t>
    </dgm:pt>
    <dgm:pt modelId="{7B2A237D-1FD5-4CBA-AF17-A1F5BEB87F95}">
      <dgm:prSet/>
      <dgm:spPr/>
      <dgm:t>
        <a:bodyPr/>
        <a:lstStyle/>
        <a:p>
          <a:r>
            <a:rPr lang="en-US"/>
            <a:t>Incorporate HPV awareness measures in future BRFSS modules.</a:t>
          </a:r>
        </a:p>
      </dgm:t>
    </dgm:pt>
    <dgm:pt modelId="{1AF18841-FBD1-47B0-863A-501F658B16A2}" type="parTrans" cxnId="{71CA06C8-E340-424B-80E6-E616467C3AC5}">
      <dgm:prSet/>
      <dgm:spPr/>
      <dgm:t>
        <a:bodyPr/>
        <a:lstStyle/>
        <a:p>
          <a:endParaRPr lang="en-US"/>
        </a:p>
      </dgm:t>
    </dgm:pt>
    <dgm:pt modelId="{167734F1-F6C6-4539-82D1-C9A0C402EC40}" type="sibTrans" cxnId="{71CA06C8-E340-424B-80E6-E616467C3AC5}">
      <dgm:prSet/>
      <dgm:spPr/>
      <dgm:t>
        <a:bodyPr/>
        <a:lstStyle/>
        <a:p>
          <a:endParaRPr lang="en-US"/>
        </a:p>
      </dgm:t>
    </dgm:pt>
    <dgm:pt modelId="{20540125-3173-44E6-BCF3-7D5AC693B7B8}">
      <dgm:prSet/>
      <dgm:spPr/>
      <dgm:t>
        <a:bodyPr/>
        <a:lstStyle/>
        <a:p>
          <a:r>
            <a:rPr lang="en-US" dirty="0"/>
            <a:t>Use mixed-methods research to further explore cultural and structural barriers by race/ethnicity.</a:t>
          </a:r>
        </a:p>
      </dgm:t>
    </dgm:pt>
    <dgm:pt modelId="{C1D8D737-2686-4091-AF6F-69FF6E165416}" type="parTrans" cxnId="{FB323058-0A30-4723-ACA2-3E6403F7E300}">
      <dgm:prSet/>
      <dgm:spPr/>
      <dgm:t>
        <a:bodyPr/>
        <a:lstStyle/>
        <a:p>
          <a:endParaRPr lang="en-US"/>
        </a:p>
      </dgm:t>
    </dgm:pt>
    <dgm:pt modelId="{F2D1EA99-3153-4D0D-A563-0F5F9728BFAB}" type="sibTrans" cxnId="{FB323058-0A30-4723-ACA2-3E6403F7E300}">
      <dgm:prSet/>
      <dgm:spPr/>
      <dgm:t>
        <a:bodyPr/>
        <a:lstStyle/>
        <a:p>
          <a:endParaRPr lang="en-US"/>
        </a:p>
      </dgm:t>
    </dgm:pt>
    <dgm:pt modelId="{BAAE71DF-B517-44B8-9C51-AE4DB679A516}">
      <dgm:prSet/>
      <dgm:spPr/>
      <dgm:t>
        <a:bodyPr/>
        <a:lstStyle/>
        <a:p>
          <a:r>
            <a:rPr lang="en-US" b="1" i="1"/>
            <a:t>Practice </a:t>
          </a:r>
          <a:endParaRPr lang="en-US"/>
        </a:p>
      </dgm:t>
    </dgm:pt>
    <dgm:pt modelId="{97C926FC-4937-4224-8057-9A9EBC3AAA57}" type="parTrans" cxnId="{630B452B-F1F6-43F1-A1AF-6E66974C661B}">
      <dgm:prSet/>
      <dgm:spPr/>
      <dgm:t>
        <a:bodyPr/>
        <a:lstStyle/>
        <a:p>
          <a:endParaRPr lang="en-US"/>
        </a:p>
      </dgm:t>
    </dgm:pt>
    <dgm:pt modelId="{007C7A41-F073-4A46-86E7-2DFD10AE2A42}" type="sibTrans" cxnId="{630B452B-F1F6-43F1-A1AF-6E66974C661B}">
      <dgm:prSet/>
      <dgm:spPr/>
      <dgm:t>
        <a:bodyPr/>
        <a:lstStyle/>
        <a:p>
          <a:endParaRPr lang="en-US"/>
        </a:p>
      </dgm:t>
    </dgm:pt>
    <dgm:pt modelId="{B897BB67-DFE0-4B32-92CD-905E79AE118C}">
      <dgm:prSet/>
      <dgm:spPr/>
      <dgm:t>
        <a:bodyPr/>
        <a:lstStyle/>
        <a:p>
          <a:r>
            <a:rPr lang="en-US"/>
            <a:t>Clinicians should use every patient encounter as an opportunity to promote cancer screening.</a:t>
          </a:r>
        </a:p>
      </dgm:t>
    </dgm:pt>
    <dgm:pt modelId="{F24072AC-7ACD-4FD0-9569-649C61BDBD17}" type="parTrans" cxnId="{4A5DF076-F5E3-4CE5-BAAF-50D11E312E07}">
      <dgm:prSet/>
      <dgm:spPr/>
      <dgm:t>
        <a:bodyPr/>
        <a:lstStyle/>
        <a:p>
          <a:endParaRPr lang="en-US"/>
        </a:p>
      </dgm:t>
    </dgm:pt>
    <dgm:pt modelId="{D0D539CC-D4FF-4A46-B83C-B130F83F167D}" type="sibTrans" cxnId="{4A5DF076-F5E3-4CE5-BAAF-50D11E312E07}">
      <dgm:prSet/>
      <dgm:spPr/>
      <dgm:t>
        <a:bodyPr/>
        <a:lstStyle/>
        <a:p>
          <a:endParaRPr lang="en-US"/>
        </a:p>
      </dgm:t>
    </dgm:pt>
    <dgm:pt modelId="{ADFDF049-CAAD-4604-8931-D23686457B9D}">
      <dgm:prSet/>
      <dgm:spPr/>
      <dgm:t>
        <a:bodyPr/>
        <a:lstStyle/>
        <a:p>
          <a:r>
            <a:rPr lang="en-US"/>
            <a:t>Strengthen patient-provider continuity to leverage the demonstrated protective effect.</a:t>
          </a:r>
        </a:p>
      </dgm:t>
    </dgm:pt>
    <dgm:pt modelId="{6C3D7AF9-3E15-4FB4-B691-53D0733D975C}" type="parTrans" cxnId="{57E15146-A1F3-48AC-BE76-77629A39AC84}">
      <dgm:prSet/>
      <dgm:spPr/>
      <dgm:t>
        <a:bodyPr/>
        <a:lstStyle/>
        <a:p>
          <a:endParaRPr lang="en-US"/>
        </a:p>
      </dgm:t>
    </dgm:pt>
    <dgm:pt modelId="{6A8D120F-311E-4E10-9C18-52847E8BA50C}" type="sibTrans" cxnId="{57E15146-A1F3-48AC-BE76-77629A39AC84}">
      <dgm:prSet/>
      <dgm:spPr/>
      <dgm:t>
        <a:bodyPr/>
        <a:lstStyle/>
        <a:p>
          <a:endParaRPr lang="en-US"/>
        </a:p>
      </dgm:t>
    </dgm:pt>
    <dgm:pt modelId="{23A8D3FC-6D38-4F3D-8A2C-E36CA299061A}">
      <dgm:prSet/>
      <dgm:spPr/>
      <dgm:t>
        <a:bodyPr/>
        <a:lstStyle/>
        <a:p>
          <a:r>
            <a:rPr lang="en-US"/>
            <a:t>Train providers on culturally responsive communication to reduce equity gaps.</a:t>
          </a:r>
        </a:p>
      </dgm:t>
    </dgm:pt>
    <dgm:pt modelId="{9027D5FE-6CD1-4F60-9B36-CA167129D2A8}" type="parTrans" cxnId="{0D5FE5F6-61F9-4953-B6EB-8760503F3457}">
      <dgm:prSet/>
      <dgm:spPr/>
      <dgm:t>
        <a:bodyPr/>
        <a:lstStyle/>
        <a:p>
          <a:endParaRPr lang="en-US"/>
        </a:p>
      </dgm:t>
    </dgm:pt>
    <dgm:pt modelId="{47856F83-8C71-40CB-9610-C434AF37775E}" type="sibTrans" cxnId="{0D5FE5F6-61F9-4953-B6EB-8760503F3457}">
      <dgm:prSet/>
      <dgm:spPr/>
      <dgm:t>
        <a:bodyPr/>
        <a:lstStyle/>
        <a:p>
          <a:endParaRPr lang="en-US"/>
        </a:p>
      </dgm:t>
    </dgm:pt>
    <dgm:pt modelId="{F76FC647-42F0-4B8F-AF27-41A44B7C5CE0}">
      <dgm:prSet/>
      <dgm:spPr/>
      <dgm:t>
        <a:bodyPr/>
        <a:lstStyle/>
        <a:p>
          <a:r>
            <a:rPr lang="en-US" b="1" i="1"/>
            <a:t>Policy</a:t>
          </a:r>
          <a:endParaRPr lang="en-US"/>
        </a:p>
      </dgm:t>
    </dgm:pt>
    <dgm:pt modelId="{F1B68D73-1A9E-4B01-88A6-493A0FE9824B}" type="parTrans" cxnId="{46BF31FC-90CF-4436-B452-CE3E9330D0E8}">
      <dgm:prSet/>
      <dgm:spPr/>
      <dgm:t>
        <a:bodyPr/>
        <a:lstStyle/>
        <a:p>
          <a:endParaRPr lang="en-US"/>
        </a:p>
      </dgm:t>
    </dgm:pt>
    <dgm:pt modelId="{6BC57A9E-7925-4F81-BF87-9914995A5216}" type="sibTrans" cxnId="{46BF31FC-90CF-4436-B452-CE3E9330D0E8}">
      <dgm:prSet/>
      <dgm:spPr/>
      <dgm:t>
        <a:bodyPr/>
        <a:lstStyle/>
        <a:p>
          <a:endParaRPr lang="en-US"/>
        </a:p>
      </dgm:t>
    </dgm:pt>
    <dgm:pt modelId="{0E8B6365-06B1-4BBD-BDFD-2BE33FFB4703}">
      <dgm:prSet/>
      <dgm:spPr/>
      <dgm:t>
        <a:bodyPr/>
        <a:lstStyle/>
        <a:p>
          <a:r>
            <a:rPr lang="en-US"/>
            <a:t>Expand Medicaid and subsidized coverage to reduce cost barriers to preventive care.</a:t>
          </a:r>
        </a:p>
      </dgm:t>
    </dgm:pt>
    <dgm:pt modelId="{998F87F6-4AFD-41CB-9AAB-20B45A117885}" type="parTrans" cxnId="{6E4054DE-750D-4E18-B4E4-BF246BD54EA9}">
      <dgm:prSet/>
      <dgm:spPr/>
      <dgm:t>
        <a:bodyPr/>
        <a:lstStyle/>
        <a:p>
          <a:endParaRPr lang="en-US"/>
        </a:p>
      </dgm:t>
    </dgm:pt>
    <dgm:pt modelId="{FD661822-6BF7-46D7-A8E3-CA9FF1F6CF1E}" type="sibTrans" cxnId="{6E4054DE-750D-4E18-B4E4-BF246BD54EA9}">
      <dgm:prSet/>
      <dgm:spPr/>
      <dgm:t>
        <a:bodyPr/>
        <a:lstStyle/>
        <a:p>
          <a:endParaRPr lang="en-US"/>
        </a:p>
      </dgm:t>
    </dgm:pt>
    <dgm:pt modelId="{15055CA0-3FBD-47F1-A659-91ACC3DB5697}">
      <dgm:prSet/>
      <dgm:spPr/>
      <dgm:t>
        <a:bodyPr/>
        <a:lstStyle/>
        <a:p>
          <a:r>
            <a:rPr lang="en-US"/>
            <a:t>Fund community health worker programs targeting under screened racial/ethnic groups.</a:t>
          </a:r>
        </a:p>
      </dgm:t>
    </dgm:pt>
    <dgm:pt modelId="{8A971429-2671-446C-B796-6F6D66FA59B3}" type="parTrans" cxnId="{F715B401-54DB-4C11-9E63-376D16F4B084}">
      <dgm:prSet/>
      <dgm:spPr/>
      <dgm:t>
        <a:bodyPr/>
        <a:lstStyle/>
        <a:p>
          <a:endParaRPr lang="en-US"/>
        </a:p>
      </dgm:t>
    </dgm:pt>
    <dgm:pt modelId="{7321FA7B-5B8F-4BA6-9B1E-30CEAE6C4AD5}" type="sibTrans" cxnId="{F715B401-54DB-4C11-9E63-376D16F4B084}">
      <dgm:prSet/>
      <dgm:spPr/>
      <dgm:t>
        <a:bodyPr/>
        <a:lstStyle/>
        <a:p>
          <a:endParaRPr lang="en-US"/>
        </a:p>
      </dgm:t>
    </dgm:pt>
    <dgm:pt modelId="{B617283B-A821-4A57-975B-D38AE670DE29}">
      <dgm:prSet/>
      <dgm:spPr/>
      <dgm:t>
        <a:bodyPr/>
        <a:lstStyle/>
        <a:p>
          <a:r>
            <a:rPr lang="en-US"/>
            <a:t>Mandate that BRFSS and similar surveys include HPV awareness and knowledge items.</a:t>
          </a:r>
        </a:p>
      </dgm:t>
    </dgm:pt>
    <dgm:pt modelId="{15B2287F-D3A1-421C-9383-7D6A6F115112}" type="parTrans" cxnId="{8F4A6699-1A25-4CE1-B0B8-557B44F30557}">
      <dgm:prSet/>
      <dgm:spPr/>
      <dgm:t>
        <a:bodyPr/>
        <a:lstStyle/>
        <a:p>
          <a:endParaRPr lang="en-US"/>
        </a:p>
      </dgm:t>
    </dgm:pt>
    <dgm:pt modelId="{13E6B47D-7690-475D-98E0-E0F42A5A5E03}" type="sibTrans" cxnId="{8F4A6699-1A25-4CE1-B0B8-557B44F30557}">
      <dgm:prSet/>
      <dgm:spPr/>
      <dgm:t>
        <a:bodyPr/>
        <a:lstStyle/>
        <a:p>
          <a:endParaRPr lang="en-US"/>
        </a:p>
      </dgm:t>
    </dgm:pt>
    <dgm:pt modelId="{FACC9A55-2D5D-EE4C-A56A-228A92D18C42}" type="pres">
      <dgm:prSet presAssocID="{D802BF3C-7677-474A-B96B-0F73C93F6235}" presName="vert0" presStyleCnt="0">
        <dgm:presLayoutVars>
          <dgm:dir/>
          <dgm:animOne val="branch"/>
          <dgm:animLvl val="lvl"/>
        </dgm:presLayoutVars>
      </dgm:prSet>
      <dgm:spPr/>
    </dgm:pt>
    <dgm:pt modelId="{B1C6B78C-AAFC-684F-A3CA-3B80B19C4576}" type="pres">
      <dgm:prSet presAssocID="{2BB81FD5-4B1A-46CD-8AAC-690A19C18AFB}" presName="thickLine" presStyleLbl="alignNode1" presStyleIdx="0" presStyleCnt="3"/>
      <dgm:spPr/>
    </dgm:pt>
    <dgm:pt modelId="{48E3FA31-5A9B-2A40-BC1D-5F9498346F1E}" type="pres">
      <dgm:prSet presAssocID="{2BB81FD5-4B1A-46CD-8AAC-690A19C18AFB}" presName="horz1" presStyleCnt="0"/>
      <dgm:spPr/>
    </dgm:pt>
    <dgm:pt modelId="{80215003-D3A2-9844-AE13-D142D82EC77E}" type="pres">
      <dgm:prSet presAssocID="{2BB81FD5-4B1A-46CD-8AAC-690A19C18AFB}" presName="tx1" presStyleLbl="revTx" presStyleIdx="0" presStyleCnt="12"/>
      <dgm:spPr/>
    </dgm:pt>
    <dgm:pt modelId="{F549DCA9-601B-9B46-98A0-B828B8D2C5DD}" type="pres">
      <dgm:prSet presAssocID="{2BB81FD5-4B1A-46CD-8AAC-690A19C18AFB}" presName="vert1" presStyleCnt="0"/>
      <dgm:spPr/>
    </dgm:pt>
    <dgm:pt modelId="{5DA419D1-A266-DA4F-93B4-6927EEB0B317}" type="pres">
      <dgm:prSet presAssocID="{5F9D0700-5937-4E49-BC16-4D5124BE4413}" presName="vertSpace2a" presStyleCnt="0"/>
      <dgm:spPr/>
    </dgm:pt>
    <dgm:pt modelId="{6E564DAF-55B0-FC4D-9110-E061A04BAFBE}" type="pres">
      <dgm:prSet presAssocID="{5F9D0700-5937-4E49-BC16-4D5124BE4413}" presName="horz2" presStyleCnt="0"/>
      <dgm:spPr/>
    </dgm:pt>
    <dgm:pt modelId="{B0F45286-0C51-8847-861F-5CC3283C2E26}" type="pres">
      <dgm:prSet presAssocID="{5F9D0700-5937-4E49-BC16-4D5124BE4413}" presName="horzSpace2" presStyleCnt="0"/>
      <dgm:spPr/>
    </dgm:pt>
    <dgm:pt modelId="{E83E1494-6EEC-FE4F-ADA4-BA5F2EE8B753}" type="pres">
      <dgm:prSet presAssocID="{5F9D0700-5937-4E49-BC16-4D5124BE4413}" presName="tx2" presStyleLbl="revTx" presStyleIdx="1" presStyleCnt="12"/>
      <dgm:spPr/>
    </dgm:pt>
    <dgm:pt modelId="{F80076ED-2764-3D4B-84DD-8D4E01C7CAA2}" type="pres">
      <dgm:prSet presAssocID="{5F9D0700-5937-4E49-BC16-4D5124BE4413}" presName="vert2" presStyleCnt="0"/>
      <dgm:spPr/>
    </dgm:pt>
    <dgm:pt modelId="{AF251632-5C2C-4942-997F-73D1D5BBD5D9}" type="pres">
      <dgm:prSet presAssocID="{5F9D0700-5937-4E49-BC16-4D5124BE4413}" presName="thinLine2b" presStyleLbl="callout" presStyleIdx="0" presStyleCnt="9"/>
      <dgm:spPr/>
    </dgm:pt>
    <dgm:pt modelId="{5E325481-A51C-9E42-ADF4-005F84EC8E88}" type="pres">
      <dgm:prSet presAssocID="{5F9D0700-5937-4E49-BC16-4D5124BE4413}" presName="vertSpace2b" presStyleCnt="0"/>
      <dgm:spPr/>
    </dgm:pt>
    <dgm:pt modelId="{236300D9-1680-4B4A-B15B-5B3F71F94393}" type="pres">
      <dgm:prSet presAssocID="{7B2A237D-1FD5-4CBA-AF17-A1F5BEB87F95}" presName="horz2" presStyleCnt="0"/>
      <dgm:spPr/>
    </dgm:pt>
    <dgm:pt modelId="{FDAC5416-F4C5-454C-84C9-D2F0C07FB671}" type="pres">
      <dgm:prSet presAssocID="{7B2A237D-1FD5-4CBA-AF17-A1F5BEB87F95}" presName="horzSpace2" presStyleCnt="0"/>
      <dgm:spPr/>
    </dgm:pt>
    <dgm:pt modelId="{C6B3799D-5E37-454A-B711-B42687CC7315}" type="pres">
      <dgm:prSet presAssocID="{7B2A237D-1FD5-4CBA-AF17-A1F5BEB87F95}" presName="tx2" presStyleLbl="revTx" presStyleIdx="2" presStyleCnt="12"/>
      <dgm:spPr/>
    </dgm:pt>
    <dgm:pt modelId="{56AE7652-0E83-C04F-B5CF-3C7EF58B9C1A}" type="pres">
      <dgm:prSet presAssocID="{7B2A237D-1FD5-4CBA-AF17-A1F5BEB87F95}" presName="vert2" presStyleCnt="0"/>
      <dgm:spPr/>
    </dgm:pt>
    <dgm:pt modelId="{8243FFA1-45D5-B14C-B027-0A0126D8ED1D}" type="pres">
      <dgm:prSet presAssocID="{7B2A237D-1FD5-4CBA-AF17-A1F5BEB87F95}" presName="thinLine2b" presStyleLbl="callout" presStyleIdx="1" presStyleCnt="9"/>
      <dgm:spPr/>
    </dgm:pt>
    <dgm:pt modelId="{6DFD835C-3C80-654D-B52C-2FD6114BF4D0}" type="pres">
      <dgm:prSet presAssocID="{7B2A237D-1FD5-4CBA-AF17-A1F5BEB87F95}" presName="vertSpace2b" presStyleCnt="0"/>
      <dgm:spPr/>
    </dgm:pt>
    <dgm:pt modelId="{3C511972-6001-BE4D-B39C-B4C0CB0A96DE}" type="pres">
      <dgm:prSet presAssocID="{20540125-3173-44E6-BCF3-7D5AC693B7B8}" presName="horz2" presStyleCnt="0"/>
      <dgm:spPr/>
    </dgm:pt>
    <dgm:pt modelId="{FB50CC79-00F1-5A49-BB6E-CF45597AC936}" type="pres">
      <dgm:prSet presAssocID="{20540125-3173-44E6-BCF3-7D5AC693B7B8}" presName="horzSpace2" presStyleCnt="0"/>
      <dgm:spPr/>
    </dgm:pt>
    <dgm:pt modelId="{9B7BAE2B-671D-6F4F-AA4D-486D3A6879FE}" type="pres">
      <dgm:prSet presAssocID="{20540125-3173-44E6-BCF3-7D5AC693B7B8}" presName="tx2" presStyleLbl="revTx" presStyleIdx="3" presStyleCnt="12"/>
      <dgm:spPr/>
    </dgm:pt>
    <dgm:pt modelId="{3DE53348-2241-2946-AFBD-6A2E8888557B}" type="pres">
      <dgm:prSet presAssocID="{20540125-3173-44E6-BCF3-7D5AC693B7B8}" presName="vert2" presStyleCnt="0"/>
      <dgm:spPr/>
    </dgm:pt>
    <dgm:pt modelId="{736388B8-CF52-6946-8FD5-2900E52C7257}" type="pres">
      <dgm:prSet presAssocID="{20540125-3173-44E6-BCF3-7D5AC693B7B8}" presName="thinLine2b" presStyleLbl="callout" presStyleIdx="2" presStyleCnt="9"/>
      <dgm:spPr/>
    </dgm:pt>
    <dgm:pt modelId="{2871C805-1D81-584B-9509-CE0FD0A7A493}" type="pres">
      <dgm:prSet presAssocID="{20540125-3173-44E6-BCF3-7D5AC693B7B8}" presName="vertSpace2b" presStyleCnt="0"/>
      <dgm:spPr/>
    </dgm:pt>
    <dgm:pt modelId="{BA95B7A0-EAD6-9F40-8812-8566A795AFD3}" type="pres">
      <dgm:prSet presAssocID="{BAAE71DF-B517-44B8-9C51-AE4DB679A516}" presName="thickLine" presStyleLbl="alignNode1" presStyleIdx="1" presStyleCnt="3"/>
      <dgm:spPr/>
    </dgm:pt>
    <dgm:pt modelId="{684901FF-A1D7-2842-B0FD-9F4C05CB7095}" type="pres">
      <dgm:prSet presAssocID="{BAAE71DF-B517-44B8-9C51-AE4DB679A516}" presName="horz1" presStyleCnt="0"/>
      <dgm:spPr/>
    </dgm:pt>
    <dgm:pt modelId="{CEDE3956-4B51-D446-90D2-C93AAA71902E}" type="pres">
      <dgm:prSet presAssocID="{BAAE71DF-B517-44B8-9C51-AE4DB679A516}" presName="tx1" presStyleLbl="revTx" presStyleIdx="4" presStyleCnt="12"/>
      <dgm:spPr/>
    </dgm:pt>
    <dgm:pt modelId="{714926A9-82DE-4D4C-8B2C-C064C54448D4}" type="pres">
      <dgm:prSet presAssocID="{BAAE71DF-B517-44B8-9C51-AE4DB679A516}" presName="vert1" presStyleCnt="0"/>
      <dgm:spPr/>
    </dgm:pt>
    <dgm:pt modelId="{798FF8DE-4821-E14C-8925-6D0F211375DA}" type="pres">
      <dgm:prSet presAssocID="{B897BB67-DFE0-4B32-92CD-905E79AE118C}" presName="vertSpace2a" presStyleCnt="0"/>
      <dgm:spPr/>
    </dgm:pt>
    <dgm:pt modelId="{CB7BB23B-F902-B945-95B2-D01C9BF8F22A}" type="pres">
      <dgm:prSet presAssocID="{B897BB67-DFE0-4B32-92CD-905E79AE118C}" presName="horz2" presStyleCnt="0"/>
      <dgm:spPr/>
    </dgm:pt>
    <dgm:pt modelId="{F42B1869-4D66-3F4C-A076-29B2CFC519AE}" type="pres">
      <dgm:prSet presAssocID="{B897BB67-DFE0-4B32-92CD-905E79AE118C}" presName="horzSpace2" presStyleCnt="0"/>
      <dgm:spPr/>
    </dgm:pt>
    <dgm:pt modelId="{19FA5821-D70A-864B-9E81-790B3501B442}" type="pres">
      <dgm:prSet presAssocID="{B897BB67-DFE0-4B32-92CD-905E79AE118C}" presName="tx2" presStyleLbl="revTx" presStyleIdx="5" presStyleCnt="12"/>
      <dgm:spPr/>
    </dgm:pt>
    <dgm:pt modelId="{91B464D6-9067-B447-B160-EF5C52B1394B}" type="pres">
      <dgm:prSet presAssocID="{B897BB67-DFE0-4B32-92CD-905E79AE118C}" presName="vert2" presStyleCnt="0"/>
      <dgm:spPr/>
    </dgm:pt>
    <dgm:pt modelId="{3822F463-56A2-CE48-8BE8-8D0ADC1CB681}" type="pres">
      <dgm:prSet presAssocID="{B897BB67-DFE0-4B32-92CD-905E79AE118C}" presName="thinLine2b" presStyleLbl="callout" presStyleIdx="3" presStyleCnt="9"/>
      <dgm:spPr/>
    </dgm:pt>
    <dgm:pt modelId="{9886769C-1FB5-7648-8F75-7162CD94076F}" type="pres">
      <dgm:prSet presAssocID="{B897BB67-DFE0-4B32-92CD-905E79AE118C}" presName="vertSpace2b" presStyleCnt="0"/>
      <dgm:spPr/>
    </dgm:pt>
    <dgm:pt modelId="{B3E7FBB6-44E7-F540-A2FF-DCE7CB117C33}" type="pres">
      <dgm:prSet presAssocID="{ADFDF049-CAAD-4604-8931-D23686457B9D}" presName="horz2" presStyleCnt="0"/>
      <dgm:spPr/>
    </dgm:pt>
    <dgm:pt modelId="{3B839E0A-73A9-944E-8D6D-915C56829EE2}" type="pres">
      <dgm:prSet presAssocID="{ADFDF049-CAAD-4604-8931-D23686457B9D}" presName="horzSpace2" presStyleCnt="0"/>
      <dgm:spPr/>
    </dgm:pt>
    <dgm:pt modelId="{06D026FA-EEEE-834C-9430-45F5075384C7}" type="pres">
      <dgm:prSet presAssocID="{ADFDF049-CAAD-4604-8931-D23686457B9D}" presName="tx2" presStyleLbl="revTx" presStyleIdx="6" presStyleCnt="12"/>
      <dgm:spPr/>
    </dgm:pt>
    <dgm:pt modelId="{762A81AB-7AD5-B743-94BA-C93459C47A86}" type="pres">
      <dgm:prSet presAssocID="{ADFDF049-CAAD-4604-8931-D23686457B9D}" presName="vert2" presStyleCnt="0"/>
      <dgm:spPr/>
    </dgm:pt>
    <dgm:pt modelId="{8930EC1F-C7FF-8246-99A7-73DF48CA63FE}" type="pres">
      <dgm:prSet presAssocID="{ADFDF049-CAAD-4604-8931-D23686457B9D}" presName="thinLine2b" presStyleLbl="callout" presStyleIdx="4" presStyleCnt="9"/>
      <dgm:spPr/>
    </dgm:pt>
    <dgm:pt modelId="{9A011EA9-490F-4241-8104-D35DBC398BF0}" type="pres">
      <dgm:prSet presAssocID="{ADFDF049-CAAD-4604-8931-D23686457B9D}" presName="vertSpace2b" presStyleCnt="0"/>
      <dgm:spPr/>
    </dgm:pt>
    <dgm:pt modelId="{F450EF0D-716E-FF42-BEA0-1F6E6DF06F94}" type="pres">
      <dgm:prSet presAssocID="{23A8D3FC-6D38-4F3D-8A2C-E36CA299061A}" presName="horz2" presStyleCnt="0"/>
      <dgm:spPr/>
    </dgm:pt>
    <dgm:pt modelId="{7CDECD51-A60F-404C-BA0D-325386828733}" type="pres">
      <dgm:prSet presAssocID="{23A8D3FC-6D38-4F3D-8A2C-E36CA299061A}" presName="horzSpace2" presStyleCnt="0"/>
      <dgm:spPr/>
    </dgm:pt>
    <dgm:pt modelId="{F4F13DF4-EAEA-2847-AA25-21046BECD67F}" type="pres">
      <dgm:prSet presAssocID="{23A8D3FC-6D38-4F3D-8A2C-E36CA299061A}" presName="tx2" presStyleLbl="revTx" presStyleIdx="7" presStyleCnt="12"/>
      <dgm:spPr/>
    </dgm:pt>
    <dgm:pt modelId="{89CC2E74-3F7D-8C48-A6FA-7BCF91E4B288}" type="pres">
      <dgm:prSet presAssocID="{23A8D3FC-6D38-4F3D-8A2C-E36CA299061A}" presName="vert2" presStyleCnt="0"/>
      <dgm:spPr/>
    </dgm:pt>
    <dgm:pt modelId="{97556684-543B-4B4A-A7CB-ABEAB14EFC89}" type="pres">
      <dgm:prSet presAssocID="{23A8D3FC-6D38-4F3D-8A2C-E36CA299061A}" presName="thinLine2b" presStyleLbl="callout" presStyleIdx="5" presStyleCnt="9"/>
      <dgm:spPr/>
    </dgm:pt>
    <dgm:pt modelId="{55F8E5BD-DD26-4B4D-9088-DC7E3BB3DC08}" type="pres">
      <dgm:prSet presAssocID="{23A8D3FC-6D38-4F3D-8A2C-E36CA299061A}" presName="vertSpace2b" presStyleCnt="0"/>
      <dgm:spPr/>
    </dgm:pt>
    <dgm:pt modelId="{A29112A5-039B-A746-9E10-69EAB781CFF0}" type="pres">
      <dgm:prSet presAssocID="{F76FC647-42F0-4B8F-AF27-41A44B7C5CE0}" presName="thickLine" presStyleLbl="alignNode1" presStyleIdx="2" presStyleCnt="3"/>
      <dgm:spPr/>
    </dgm:pt>
    <dgm:pt modelId="{49DD8291-CD88-6B46-A0CD-1206AC96732F}" type="pres">
      <dgm:prSet presAssocID="{F76FC647-42F0-4B8F-AF27-41A44B7C5CE0}" presName="horz1" presStyleCnt="0"/>
      <dgm:spPr/>
    </dgm:pt>
    <dgm:pt modelId="{968906B4-3354-924D-93DF-39EDC164BCAC}" type="pres">
      <dgm:prSet presAssocID="{F76FC647-42F0-4B8F-AF27-41A44B7C5CE0}" presName="tx1" presStyleLbl="revTx" presStyleIdx="8" presStyleCnt="12"/>
      <dgm:spPr/>
    </dgm:pt>
    <dgm:pt modelId="{068E5D4C-E53F-4F43-A2E2-1A171B9EF8AD}" type="pres">
      <dgm:prSet presAssocID="{F76FC647-42F0-4B8F-AF27-41A44B7C5CE0}" presName="vert1" presStyleCnt="0"/>
      <dgm:spPr/>
    </dgm:pt>
    <dgm:pt modelId="{FB8CE7F7-2B4D-1D46-84FA-47A9123F8194}" type="pres">
      <dgm:prSet presAssocID="{0E8B6365-06B1-4BBD-BDFD-2BE33FFB4703}" presName="vertSpace2a" presStyleCnt="0"/>
      <dgm:spPr/>
    </dgm:pt>
    <dgm:pt modelId="{B9F38ECB-8A72-3C48-9E8C-1B05ABACF528}" type="pres">
      <dgm:prSet presAssocID="{0E8B6365-06B1-4BBD-BDFD-2BE33FFB4703}" presName="horz2" presStyleCnt="0"/>
      <dgm:spPr/>
    </dgm:pt>
    <dgm:pt modelId="{F82ED485-7975-0549-8B58-1DD8289EC7B0}" type="pres">
      <dgm:prSet presAssocID="{0E8B6365-06B1-4BBD-BDFD-2BE33FFB4703}" presName="horzSpace2" presStyleCnt="0"/>
      <dgm:spPr/>
    </dgm:pt>
    <dgm:pt modelId="{13228B9A-C547-DD47-A5A6-6BB9CA093FA8}" type="pres">
      <dgm:prSet presAssocID="{0E8B6365-06B1-4BBD-BDFD-2BE33FFB4703}" presName="tx2" presStyleLbl="revTx" presStyleIdx="9" presStyleCnt="12"/>
      <dgm:spPr/>
    </dgm:pt>
    <dgm:pt modelId="{CC0EE16E-701C-E742-9491-688E9BD5C516}" type="pres">
      <dgm:prSet presAssocID="{0E8B6365-06B1-4BBD-BDFD-2BE33FFB4703}" presName="vert2" presStyleCnt="0"/>
      <dgm:spPr/>
    </dgm:pt>
    <dgm:pt modelId="{37482B7B-13BF-F54C-B206-9EB918F202A1}" type="pres">
      <dgm:prSet presAssocID="{0E8B6365-06B1-4BBD-BDFD-2BE33FFB4703}" presName="thinLine2b" presStyleLbl="callout" presStyleIdx="6" presStyleCnt="9"/>
      <dgm:spPr/>
    </dgm:pt>
    <dgm:pt modelId="{D620B7B3-678B-3B4C-A1FB-B22AD38E3D73}" type="pres">
      <dgm:prSet presAssocID="{0E8B6365-06B1-4BBD-BDFD-2BE33FFB4703}" presName="vertSpace2b" presStyleCnt="0"/>
      <dgm:spPr/>
    </dgm:pt>
    <dgm:pt modelId="{737235C9-C3AC-F04D-AEC4-1A84E105B15B}" type="pres">
      <dgm:prSet presAssocID="{15055CA0-3FBD-47F1-A659-91ACC3DB5697}" presName="horz2" presStyleCnt="0"/>
      <dgm:spPr/>
    </dgm:pt>
    <dgm:pt modelId="{C62735ED-EA80-3046-9F0C-4852D3460077}" type="pres">
      <dgm:prSet presAssocID="{15055CA0-3FBD-47F1-A659-91ACC3DB5697}" presName="horzSpace2" presStyleCnt="0"/>
      <dgm:spPr/>
    </dgm:pt>
    <dgm:pt modelId="{8D144847-6CB1-534C-9AF3-59EF62943D0A}" type="pres">
      <dgm:prSet presAssocID="{15055CA0-3FBD-47F1-A659-91ACC3DB5697}" presName="tx2" presStyleLbl="revTx" presStyleIdx="10" presStyleCnt="12"/>
      <dgm:spPr/>
    </dgm:pt>
    <dgm:pt modelId="{5CCF619F-C0A8-1242-9082-CE1F326AA11A}" type="pres">
      <dgm:prSet presAssocID="{15055CA0-3FBD-47F1-A659-91ACC3DB5697}" presName="vert2" presStyleCnt="0"/>
      <dgm:spPr/>
    </dgm:pt>
    <dgm:pt modelId="{CA08A817-9952-5F46-9AE7-CAFEE167745E}" type="pres">
      <dgm:prSet presAssocID="{15055CA0-3FBD-47F1-A659-91ACC3DB5697}" presName="thinLine2b" presStyleLbl="callout" presStyleIdx="7" presStyleCnt="9"/>
      <dgm:spPr/>
    </dgm:pt>
    <dgm:pt modelId="{E5EF124D-8C5C-7745-92B8-BA81F21CE79B}" type="pres">
      <dgm:prSet presAssocID="{15055CA0-3FBD-47F1-A659-91ACC3DB5697}" presName="vertSpace2b" presStyleCnt="0"/>
      <dgm:spPr/>
    </dgm:pt>
    <dgm:pt modelId="{CE2AC31C-BE23-3B43-A2A0-81A5F5433B8E}" type="pres">
      <dgm:prSet presAssocID="{B617283B-A821-4A57-975B-D38AE670DE29}" presName="horz2" presStyleCnt="0"/>
      <dgm:spPr/>
    </dgm:pt>
    <dgm:pt modelId="{3EC1D140-3E74-F947-8B16-5EA3E5A5CC8E}" type="pres">
      <dgm:prSet presAssocID="{B617283B-A821-4A57-975B-D38AE670DE29}" presName="horzSpace2" presStyleCnt="0"/>
      <dgm:spPr/>
    </dgm:pt>
    <dgm:pt modelId="{861DB245-A10B-D54A-9C79-79914B95D686}" type="pres">
      <dgm:prSet presAssocID="{B617283B-A821-4A57-975B-D38AE670DE29}" presName="tx2" presStyleLbl="revTx" presStyleIdx="11" presStyleCnt="12"/>
      <dgm:spPr/>
    </dgm:pt>
    <dgm:pt modelId="{EBB09CC2-D334-9B48-889B-D031DDDBBE8B}" type="pres">
      <dgm:prSet presAssocID="{B617283B-A821-4A57-975B-D38AE670DE29}" presName="vert2" presStyleCnt="0"/>
      <dgm:spPr/>
    </dgm:pt>
    <dgm:pt modelId="{66F52370-FA48-FE47-8C74-708B04422E57}" type="pres">
      <dgm:prSet presAssocID="{B617283B-A821-4A57-975B-D38AE670DE29}" presName="thinLine2b" presStyleLbl="callout" presStyleIdx="8" presStyleCnt="9"/>
      <dgm:spPr/>
    </dgm:pt>
    <dgm:pt modelId="{D8BD5BF7-8B24-014C-90F3-6B203B22B4B7}" type="pres">
      <dgm:prSet presAssocID="{B617283B-A821-4A57-975B-D38AE670DE29}" presName="vertSpace2b" presStyleCnt="0"/>
      <dgm:spPr/>
    </dgm:pt>
  </dgm:ptLst>
  <dgm:cxnLst>
    <dgm:cxn modelId="{F715B401-54DB-4C11-9E63-376D16F4B084}" srcId="{F76FC647-42F0-4B8F-AF27-41A44B7C5CE0}" destId="{15055CA0-3FBD-47F1-A659-91ACC3DB5697}" srcOrd="1" destOrd="0" parTransId="{8A971429-2671-446C-B796-6F6D66FA59B3}" sibTransId="{7321FA7B-5B8F-4BA6-9B1E-30CEAE6C4AD5}"/>
    <dgm:cxn modelId="{0297D80F-6F07-48F4-B10F-E1C13AAB028E}" srcId="{2BB81FD5-4B1A-46CD-8AAC-690A19C18AFB}" destId="{5F9D0700-5937-4E49-BC16-4D5124BE4413}" srcOrd="0" destOrd="0" parTransId="{833F7EBE-9550-4AEB-AEFA-A2114DA65341}" sibTransId="{E0F4B3DE-15C1-42BD-8CD1-3FDCCCCFD92C}"/>
    <dgm:cxn modelId="{B0B5C016-0024-8745-84BC-BE902860F185}" type="presOf" srcId="{23A8D3FC-6D38-4F3D-8A2C-E36CA299061A}" destId="{F4F13DF4-EAEA-2847-AA25-21046BECD67F}" srcOrd="0" destOrd="0" presId="urn:microsoft.com/office/officeart/2008/layout/LinedList"/>
    <dgm:cxn modelId="{355D3326-C2B6-4F47-A0B8-D91111F5207C}" type="presOf" srcId="{BAAE71DF-B517-44B8-9C51-AE4DB679A516}" destId="{CEDE3956-4B51-D446-90D2-C93AAA71902E}" srcOrd="0" destOrd="0" presId="urn:microsoft.com/office/officeart/2008/layout/LinedList"/>
    <dgm:cxn modelId="{630B452B-F1F6-43F1-A1AF-6E66974C661B}" srcId="{D802BF3C-7677-474A-B96B-0F73C93F6235}" destId="{BAAE71DF-B517-44B8-9C51-AE4DB679A516}" srcOrd="1" destOrd="0" parTransId="{97C926FC-4937-4224-8057-9A9EBC3AAA57}" sibTransId="{007C7A41-F073-4A46-86E7-2DFD10AE2A42}"/>
    <dgm:cxn modelId="{B266C832-5E7E-1742-AAC6-98DC66376525}" type="presOf" srcId="{15055CA0-3FBD-47F1-A659-91ACC3DB5697}" destId="{8D144847-6CB1-534C-9AF3-59EF62943D0A}" srcOrd="0" destOrd="0" presId="urn:microsoft.com/office/officeart/2008/layout/LinedList"/>
    <dgm:cxn modelId="{33DE5037-D952-4441-93EA-F49E5A24F0AD}" type="presOf" srcId="{F76FC647-42F0-4B8F-AF27-41A44B7C5CE0}" destId="{968906B4-3354-924D-93DF-39EDC164BCAC}" srcOrd="0" destOrd="0" presId="urn:microsoft.com/office/officeart/2008/layout/LinedList"/>
    <dgm:cxn modelId="{57E15146-A1F3-48AC-BE76-77629A39AC84}" srcId="{BAAE71DF-B517-44B8-9C51-AE4DB679A516}" destId="{ADFDF049-CAAD-4604-8931-D23686457B9D}" srcOrd="1" destOrd="0" parTransId="{6C3D7AF9-3E15-4FB4-B691-53D0733D975C}" sibTransId="{6A8D120F-311E-4E10-9C18-52847E8BA50C}"/>
    <dgm:cxn modelId="{C78C284D-AB40-6640-AB08-8C1402B6EF58}" type="presOf" srcId="{ADFDF049-CAAD-4604-8931-D23686457B9D}" destId="{06D026FA-EEEE-834C-9430-45F5075384C7}" srcOrd="0" destOrd="0" presId="urn:microsoft.com/office/officeart/2008/layout/LinedList"/>
    <dgm:cxn modelId="{FB323058-0A30-4723-ACA2-3E6403F7E300}" srcId="{2BB81FD5-4B1A-46CD-8AAC-690A19C18AFB}" destId="{20540125-3173-44E6-BCF3-7D5AC693B7B8}" srcOrd="2" destOrd="0" parTransId="{C1D8D737-2686-4091-AF6F-69FF6E165416}" sibTransId="{F2D1EA99-3153-4D0D-A563-0F5F9728BFAB}"/>
    <dgm:cxn modelId="{1A8B686C-C198-6243-B65B-6116F083BC8C}" type="presOf" srcId="{2BB81FD5-4B1A-46CD-8AAC-690A19C18AFB}" destId="{80215003-D3A2-9844-AE13-D142D82EC77E}" srcOrd="0" destOrd="0" presId="urn:microsoft.com/office/officeart/2008/layout/LinedList"/>
    <dgm:cxn modelId="{A10CC270-D23F-0646-A873-5D488CF40F54}" type="presOf" srcId="{D802BF3C-7677-474A-B96B-0F73C93F6235}" destId="{FACC9A55-2D5D-EE4C-A56A-228A92D18C42}" srcOrd="0" destOrd="0" presId="urn:microsoft.com/office/officeart/2008/layout/LinedList"/>
    <dgm:cxn modelId="{4A5DF076-F5E3-4CE5-BAAF-50D11E312E07}" srcId="{BAAE71DF-B517-44B8-9C51-AE4DB679A516}" destId="{B897BB67-DFE0-4B32-92CD-905E79AE118C}" srcOrd="0" destOrd="0" parTransId="{F24072AC-7ACD-4FD0-9569-649C61BDBD17}" sibTransId="{D0D539CC-D4FF-4A46-B83C-B130F83F167D}"/>
    <dgm:cxn modelId="{6E51FC93-D4DE-2649-8F61-D885F6BD1BE9}" type="presOf" srcId="{0E8B6365-06B1-4BBD-BDFD-2BE33FFB4703}" destId="{13228B9A-C547-DD47-A5A6-6BB9CA093FA8}" srcOrd="0" destOrd="0" presId="urn:microsoft.com/office/officeart/2008/layout/LinedList"/>
    <dgm:cxn modelId="{8F4A6699-1A25-4CE1-B0B8-557B44F30557}" srcId="{F76FC647-42F0-4B8F-AF27-41A44B7C5CE0}" destId="{B617283B-A821-4A57-975B-D38AE670DE29}" srcOrd="2" destOrd="0" parTransId="{15B2287F-D3A1-421C-9383-7D6A6F115112}" sibTransId="{13E6B47D-7690-475D-98E0-E0F42A5A5E03}"/>
    <dgm:cxn modelId="{4781E9A5-336F-FC48-B5D7-F742B86DCB5E}" type="presOf" srcId="{7B2A237D-1FD5-4CBA-AF17-A1F5BEB87F95}" destId="{C6B3799D-5E37-454A-B711-B42687CC7315}" srcOrd="0" destOrd="0" presId="urn:microsoft.com/office/officeart/2008/layout/LinedList"/>
    <dgm:cxn modelId="{745E63AC-3322-5A45-93C6-450C1F18CD03}" type="presOf" srcId="{20540125-3173-44E6-BCF3-7D5AC693B7B8}" destId="{9B7BAE2B-671D-6F4F-AA4D-486D3A6879FE}" srcOrd="0" destOrd="0" presId="urn:microsoft.com/office/officeart/2008/layout/LinedList"/>
    <dgm:cxn modelId="{63AB73BF-D6FE-A347-95DD-9CB62F3F235C}" type="presOf" srcId="{B617283B-A821-4A57-975B-D38AE670DE29}" destId="{861DB245-A10B-D54A-9C79-79914B95D686}" srcOrd="0" destOrd="0" presId="urn:microsoft.com/office/officeart/2008/layout/LinedList"/>
    <dgm:cxn modelId="{71CA06C8-E340-424B-80E6-E616467C3AC5}" srcId="{2BB81FD5-4B1A-46CD-8AAC-690A19C18AFB}" destId="{7B2A237D-1FD5-4CBA-AF17-A1F5BEB87F95}" srcOrd="1" destOrd="0" parTransId="{1AF18841-FBD1-47B0-863A-501F658B16A2}" sibTransId="{167734F1-F6C6-4539-82D1-C9A0C402EC40}"/>
    <dgm:cxn modelId="{BBBAA4C9-5B48-4DA5-AFA1-55924ED89C71}" srcId="{D802BF3C-7677-474A-B96B-0F73C93F6235}" destId="{2BB81FD5-4B1A-46CD-8AAC-690A19C18AFB}" srcOrd="0" destOrd="0" parTransId="{1C84E2DC-DCCB-4DC6-AF6E-210915463416}" sibTransId="{51A47945-A31A-4B47-9E47-F630CAEC7860}"/>
    <dgm:cxn modelId="{5B9027CD-FE4F-0B4B-83E8-D043BA6604F6}" type="presOf" srcId="{5F9D0700-5937-4E49-BC16-4D5124BE4413}" destId="{E83E1494-6EEC-FE4F-ADA4-BA5F2EE8B753}" srcOrd="0" destOrd="0" presId="urn:microsoft.com/office/officeart/2008/layout/LinedList"/>
    <dgm:cxn modelId="{6E4054DE-750D-4E18-B4E4-BF246BD54EA9}" srcId="{F76FC647-42F0-4B8F-AF27-41A44B7C5CE0}" destId="{0E8B6365-06B1-4BBD-BDFD-2BE33FFB4703}" srcOrd="0" destOrd="0" parTransId="{998F87F6-4AFD-41CB-9AAB-20B45A117885}" sibTransId="{FD661822-6BF7-46D7-A8E3-CA9FF1F6CF1E}"/>
    <dgm:cxn modelId="{BDCAECDF-1328-554B-B50A-E4944AEBAC4C}" type="presOf" srcId="{B897BB67-DFE0-4B32-92CD-905E79AE118C}" destId="{19FA5821-D70A-864B-9E81-790B3501B442}" srcOrd="0" destOrd="0" presId="urn:microsoft.com/office/officeart/2008/layout/LinedList"/>
    <dgm:cxn modelId="{0D5FE5F6-61F9-4953-B6EB-8760503F3457}" srcId="{BAAE71DF-B517-44B8-9C51-AE4DB679A516}" destId="{23A8D3FC-6D38-4F3D-8A2C-E36CA299061A}" srcOrd="2" destOrd="0" parTransId="{9027D5FE-6CD1-4F60-9B36-CA167129D2A8}" sibTransId="{47856F83-8C71-40CB-9610-C434AF37775E}"/>
    <dgm:cxn modelId="{46BF31FC-90CF-4436-B452-CE3E9330D0E8}" srcId="{D802BF3C-7677-474A-B96B-0F73C93F6235}" destId="{F76FC647-42F0-4B8F-AF27-41A44B7C5CE0}" srcOrd="2" destOrd="0" parTransId="{F1B68D73-1A9E-4B01-88A6-493A0FE9824B}" sibTransId="{6BC57A9E-7925-4F81-BF87-9914995A5216}"/>
    <dgm:cxn modelId="{B3A5DB53-2417-8349-AD97-391D4EE23CEF}" type="presParOf" srcId="{FACC9A55-2D5D-EE4C-A56A-228A92D18C42}" destId="{B1C6B78C-AAFC-684F-A3CA-3B80B19C4576}" srcOrd="0" destOrd="0" presId="urn:microsoft.com/office/officeart/2008/layout/LinedList"/>
    <dgm:cxn modelId="{1EF719DE-ADEE-AD4C-9126-CB423C4D8EF1}" type="presParOf" srcId="{FACC9A55-2D5D-EE4C-A56A-228A92D18C42}" destId="{48E3FA31-5A9B-2A40-BC1D-5F9498346F1E}" srcOrd="1" destOrd="0" presId="urn:microsoft.com/office/officeart/2008/layout/LinedList"/>
    <dgm:cxn modelId="{E1399D6F-3AB3-0248-A503-EC7A81532914}" type="presParOf" srcId="{48E3FA31-5A9B-2A40-BC1D-5F9498346F1E}" destId="{80215003-D3A2-9844-AE13-D142D82EC77E}" srcOrd="0" destOrd="0" presId="urn:microsoft.com/office/officeart/2008/layout/LinedList"/>
    <dgm:cxn modelId="{0F6D2D3E-B0D4-F241-875B-A006F1E85235}" type="presParOf" srcId="{48E3FA31-5A9B-2A40-BC1D-5F9498346F1E}" destId="{F549DCA9-601B-9B46-98A0-B828B8D2C5DD}" srcOrd="1" destOrd="0" presId="urn:microsoft.com/office/officeart/2008/layout/LinedList"/>
    <dgm:cxn modelId="{E3C20175-2E3A-ED42-ADE5-FB986C937389}" type="presParOf" srcId="{F549DCA9-601B-9B46-98A0-B828B8D2C5DD}" destId="{5DA419D1-A266-DA4F-93B4-6927EEB0B317}" srcOrd="0" destOrd="0" presId="urn:microsoft.com/office/officeart/2008/layout/LinedList"/>
    <dgm:cxn modelId="{5FDDDBBF-8EA4-1C46-A94C-B58A335A8A16}" type="presParOf" srcId="{F549DCA9-601B-9B46-98A0-B828B8D2C5DD}" destId="{6E564DAF-55B0-FC4D-9110-E061A04BAFBE}" srcOrd="1" destOrd="0" presId="urn:microsoft.com/office/officeart/2008/layout/LinedList"/>
    <dgm:cxn modelId="{A7C347DA-0086-D84D-BDF6-0681ECF6F7B6}" type="presParOf" srcId="{6E564DAF-55B0-FC4D-9110-E061A04BAFBE}" destId="{B0F45286-0C51-8847-861F-5CC3283C2E26}" srcOrd="0" destOrd="0" presId="urn:microsoft.com/office/officeart/2008/layout/LinedList"/>
    <dgm:cxn modelId="{13A28E74-C699-CE41-B047-315B3F41B3AE}" type="presParOf" srcId="{6E564DAF-55B0-FC4D-9110-E061A04BAFBE}" destId="{E83E1494-6EEC-FE4F-ADA4-BA5F2EE8B753}" srcOrd="1" destOrd="0" presId="urn:microsoft.com/office/officeart/2008/layout/LinedList"/>
    <dgm:cxn modelId="{7329F8C8-0025-044C-947A-D15F8F13A98E}" type="presParOf" srcId="{6E564DAF-55B0-FC4D-9110-E061A04BAFBE}" destId="{F80076ED-2764-3D4B-84DD-8D4E01C7CAA2}" srcOrd="2" destOrd="0" presId="urn:microsoft.com/office/officeart/2008/layout/LinedList"/>
    <dgm:cxn modelId="{4813A348-3C19-0343-BAD9-9C5781074296}" type="presParOf" srcId="{F549DCA9-601B-9B46-98A0-B828B8D2C5DD}" destId="{AF251632-5C2C-4942-997F-73D1D5BBD5D9}" srcOrd="2" destOrd="0" presId="urn:microsoft.com/office/officeart/2008/layout/LinedList"/>
    <dgm:cxn modelId="{D36BF342-03A6-3B4E-A16E-2DEF00403949}" type="presParOf" srcId="{F549DCA9-601B-9B46-98A0-B828B8D2C5DD}" destId="{5E325481-A51C-9E42-ADF4-005F84EC8E88}" srcOrd="3" destOrd="0" presId="urn:microsoft.com/office/officeart/2008/layout/LinedList"/>
    <dgm:cxn modelId="{62B2C334-6EFE-5249-86E8-2EB186D57FD3}" type="presParOf" srcId="{F549DCA9-601B-9B46-98A0-B828B8D2C5DD}" destId="{236300D9-1680-4B4A-B15B-5B3F71F94393}" srcOrd="4" destOrd="0" presId="urn:microsoft.com/office/officeart/2008/layout/LinedList"/>
    <dgm:cxn modelId="{62737675-5AE5-B547-A203-6D90168D6E8C}" type="presParOf" srcId="{236300D9-1680-4B4A-B15B-5B3F71F94393}" destId="{FDAC5416-F4C5-454C-84C9-D2F0C07FB671}" srcOrd="0" destOrd="0" presId="urn:microsoft.com/office/officeart/2008/layout/LinedList"/>
    <dgm:cxn modelId="{627C97A4-9AB2-D445-A8F4-2725F2DAC396}" type="presParOf" srcId="{236300D9-1680-4B4A-B15B-5B3F71F94393}" destId="{C6B3799D-5E37-454A-B711-B42687CC7315}" srcOrd="1" destOrd="0" presId="urn:microsoft.com/office/officeart/2008/layout/LinedList"/>
    <dgm:cxn modelId="{C0111A9C-DA41-B04D-B19E-17C3DEC694EF}" type="presParOf" srcId="{236300D9-1680-4B4A-B15B-5B3F71F94393}" destId="{56AE7652-0E83-C04F-B5CF-3C7EF58B9C1A}" srcOrd="2" destOrd="0" presId="urn:microsoft.com/office/officeart/2008/layout/LinedList"/>
    <dgm:cxn modelId="{4A270E6C-A13F-234D-BF4A-D48110B1ECE6}" type="presParOf" srcId="{F549DCA9-601B-9B46-98A0-B828B8D2C5DD}" destId="{8243FFA1-45D5-B14C-B027-0A0126D8ED1D}" srcOrd="5" destOrd="0" presId="urn:microsoft.com/office/officeart/2008/layout/LinedList"/>
    <dgm:cxn modelId="{0C4C91CF-2673-C943-A522-80E37B16C763}" type="presParOf" srcId="{F549DCA9-601B-9B46-98A0-B828B8D2C5DD}" destId="{6DFD835C-3C80-654D-B52C-2FD6114BF4D0}" srcOrd="6" destOrd="0" presId="urn:microsoft.com/office/officeart/2008/layout/LinedList"/>
    <dgm:cxn modelId="{FB4D9B95-98C6-D547-BABB-4EF54BA11B10}" type="presParOf" srcId="{F549DCA9-601B-9B46-98A0-B828B8D2C5DD}" destId="{3C511972-6001-BE4D-B39C-B4C0CB0A96DE}" srcOrd="7" destOrd="0" presId="urn:microsoft.com/office/officeart/2008/layout/LinedList"/>
    <dgm:cxn modelId="{4DE77BAF-3EDD-5B40-85B8-0EC241C84A5A}" type="presParOf" srcId="{3C511972-6001-BE4D-B39C-B4C0CB0A96DE}" destId="{FB50CC79-00F1-5A49-BB6E-CF45597AC936}" srcOrd="0" destOrd="0" presId="urn:microsoft.com/office/officeart/2008/layout/LinedList"/>
    <dgm:cxn modelId="{75459502-98F6-FC49-852B-297350ABD937}" type="presParOf" srcId="{3C511972-6001-BE4D-B39C-B4C0CB0A96DE}" destId="{9B7BAE2B-671D-6F4F-AA4D-486D3A6879FE}" srcOrd="1" destOrd="0" presId="urn:microsoft.com/office/officeart/2008/layout/LinedList"/>
    <dgm:cxn modelId="{BEA74130-FE99-2D48-8871-8F84998221FF}" type="presParOf" srcId="{3C511972-6001-BE4D-B39C-B4C0CB0A96DE}" destId="{3DE53348-2241-2946-AFBD-6A2E8888557B}" srcOrd="2" destOrd="0" presId="urn:microsoft.com/office/officeart/2008/layout/LinedList"/>
    <dgm:cxn modelId="{7D3346F9-E152-F641-B044-4D664A047245}" type="presParOf" srcId="{F549DCA9-601B-9B46-98A0-B828B8D2C5DD}" destId="{736388B8-CF52-6946-8FD5-2900E52C7257}" srcOrd="8" destOrd="0" presId="urn:microsoft.com/office/officeart/2008/layout/LinedList"/>
    <dgm:cxn modelId="{54A51274-6719-874F-B1E9-CA91FCD3908F}" type="presParOf" srcId="{F549DCA9-601B-9B46-98A0-B828B8D2C5DD}" destId="{2871C805-1D81-584B-9509-CE0FD0A7A493}" srcOrd="9" destOrd="0" presId="urn:microsoft.com/office/officeart/2008/layout/LinedList"/>
    <dgm:cxn modelId="{77C3DE5D-513F-DC47-B768-1A069894EEDD}" type="presParOf" srcId="{FACC9A55-2D5D-EE4C-A56A-228A92D18C42}" destId="{BA95B7A0-EAD6-9F40-8812-8566A795AFD3}" srcOrd="2" destOrd="0" presId="urn:microsoft.com/office/officeart/2008/layout/LinedList"/>
    <dgm:cxn modelId="{03C4022B-4BEB-4D41-8FB7-787D7685D099}" type="presParOf" srcId="{FACC9A55-2D5D-EE4C-A56A-228A92D18C42}" destId="{684901FF-A1D7-2842-B0FD-9F4C05CB7095}" srcOrd="3" destOrd="0" presId="urn:microsoft.com/office/officeart/2008/layout/LinedList"/>
    <dgm:cxn modelId="{E20F9B99-4558-A24B-94A8-8054D113841F}" type="presParOf" srcId="{684901FF-A1D7-2842-B0FD-9F4C05CB7095}" destId="{CEDE3956-4B51-D446-90D2-C93AAA71902E}" srcOrd="0" destOrd="0" presId="urn:microsoft.com/office/officeart/2008/layout/LinedList"/>
    <dgm:cxn modelId="{4ED5D570-D564-5D4A-B3FD-BBE7C55FDD4A}" type="presParOf" srcId="{684901FF-A1D7-2842-B0FD-9F4C05CB7095}" destId="{714926A9-82DE-4D4C-8B2C-C064C54448D4}" srcOrd="1" destOrd="0" presId="urn:microsoft.com/office/officeart/2008/layout/LinedList"/>
    <dgm:cxn modelId="{62BBAE56-CC08-5847-878A-8B90876B4A63}" type="presParOf" srcId="{714926A9-82DE-4D4C-8B2C-C064C54448D4}" destId="{798FF8DE-4821-E14C-8925-6D0F211375DA}" srcOrd="0" destOrd="0" presId="urn:microsoft.com/office/officeart/2008/layout/LinedList"/>
    <dgm:cxn modelId="{01F14C34-4ADB-3542-8958-8CB3C7A923B8}" type="presParOf" srcId="{714926A9-82DE-4D4C-8B2C-C064C54448D4}" destId="{CB7BB23B-F902-B945-95B2-D01C9BF8F22A}" srcOrd="1" destOrd="0" presId="urn:microsoft.com/office/officeart/2008/layout/LinedList"/>
    <dgm:cxn modelId="{08B58406-7FDB-1942-8746-AA7AC71CD6AE}" type="presParOf" srcId="{CB7BB23B-F902-B945-95B2-D01C9BF8F22A}" destId="{F42B1869-4D66-3F4C-A076-29B2CFC519AE}" srcOrd="0" destOrd="0" presId="urn:microsoft.com/office/officeart/2008/layout/LinedList"/>
    <dgm:cxn modelId="{3D6DE1D2-E799-A042-95B1-8EE2DD65349C}" type="presParOf" srcId="{CB7BB23B-F902-B945-95B2-D01C9BF8F22A}" destId="{19FA5821-D70A-864B-9E81-790B3501B442}" srcOrd="1" destOrd="0" presId="urn:microsoft.com/office/officeart/2008/layout/LinedList"/>
    <dgm:cxn modelId="{748B3741-8461-7C44-88DB-922843A6CF4B}" type="presParOf" srcId="{CB7BB23B-F902-B945-95B2-D01C9BF8F22A}" destId="{91B464D6-9067-B447-B160-EF5C52B1394B}" srcOrd="2" destOrd="0" presId="urn:microsoft.com/office/officeart/2008/layout/LinedList"/>
    <dgm:cxn modelId="{4A6DA8BD-3E32-4B48-B68C-4517D456981A}" type="presParOf" srcId="{714926A9-82DE-4D4C-8B2C-C064C54448D4}" destId="{3822F463-56A2-CE48-8BE8-8D0ADC1CB681}" srcOrd="2" destOrd="0" presId="urn:microsoft.com/office/officeart/2008/layout/LinedList"/>
    <dgm:cxn modelId="{DEECDDA8-3AB6-AC4C-96C8-7A315A4D2535}" type="presParOf" srcId="{714926A9-82DE-4D4C-8B2C-C064C54448D4}" destId="{9886769C-1FB5-7648-8F75-7162CD94076F}" srcOrd="3" destOrd="0" presId="urn:microsoft.com/office/officeart/2008/layout/LinedList"/>
    <dgm:cxn modelId="{A0FDDDF4-492A-B849-870E-D8C4356BBFD7}" type="presParOf" srcId="{714926A9-82DE-4D4C-8B2C-C064C54448D4}" destId="{B3E7FBB6-44E7-F540-A2FF-DCE7CB117C33}" srcOrd="4" destOrd="0" presId="urn:microsoft.com/office/officeart/2008/layout/LinedList"/>
    <dgm:cxn modelId="{CA81A3F1-B7E4-174A-ADBC-F208B5BD28B1}" type="presParOf" srcId="{B3E7FBB6-44E7-F540-A2FF-DCE7CB117C33}" destId="{3B839E0A-73A9-944E-8D6D-915C56829EE2}" srcOrd="0" destOrd="0" presId="urn:microsoft.com/office/officeart/2008/layout/LinedList"/>
    <dgm:cxn modelId="{4D876CB5-51C5-F54B-8B42-3F6E9BD2D11E}" type="presParOf" srcId="{B3E7FBB6-44E7-F540-A2FF-DCE7CB117C33}" destId="{06D026FA-EEEE-834C-9430-45F5075384C7}" srcOrd="1" destOrd="0" presId="urn:microsoft.com/office/officeart/2008/layout/LinedList"/>
    <dgm:cxn modelId="{8A42D3A0-5D15-C445-A09D-C86FD0BBE190}" type="presParOf" srcId="{B3E7FBB6-44E7-F540-A2FF-DCE7CB117C33}" destId="{762A81AB-7AD5-B743-94BA-C93459C47A86}" srcOrd="2" destOrd="0" presId="urn:microsoft.com/office/officeart/2008/layout/LinedList"/>
    <dgm:cxn modelId="{F12D2B80-AAE5-814D-B8A9-BBB3D7452842}" type="presParOf" srcId="{714926A9-82DE-4D4C-8B2C-C064C54448D4}" destId="{8930EC1F-C7FF-8246-99A7-73DF48CA63FE}" srcOrd="5" destOrd="0" presId="urn:microsoft.com/office/officeart/2008/layout/LinedList"/>
    <dgm:cxn modelId="{40EF39C9-DFA4-0F4D-A117-E724577A74EC}" type="presParOf" srcId="{714926A9-82DE-4D4C-8B2C-C064C54448D4}" destId="{9A011EA9-490F-4241-8104-D35DBC398BF0}" srcOrd="6" destOrd="0" presId="urn:microsoft.com/office/officeart/2008/layout/LinedList"/>
    <dgm:cxn modelId="{B5E8BE7C-7C02-4548-BBEA-F0BF7D3715CD}" type="presParOf" srcId="{714926A9-82DE-4D4C-8B2C-C064C54448D4}" destId="{F450EF0D-716E-FF42-BEA0-1F6E6DF06F94}" srcOrd="7" destOrd="0" presId="urn:microsoft.com/office/officeart/2008/layout/LinedList"/>
    <dgm:cxn modelId="{EAD57389-E11C-3143-8F07-7FED1291EC44}" type="presParOf" srcId="{F450EF0D-716E-FF42-BEA0-1F6E6DF06F94}" destId="{7CDECD51-A60F-404C-BA0D-325386828733}" srcOrd="0" destOrd="0" presId="urn:microsoft.com/office/officeart/2008/layout/LinedList"/>
    <dgm:cxn modelId="{1C47C410-247D-0E4B-9A0C-3537618EEAB5}" type="presParOf" srcId="{F450EF0D-716E-FF42-BEA0-1F6E6DF06F94}" destId="{F4F13DF4-EAEA-2847-AA25-21046BECD67F}" srcOrd="1" destOrd="0" presId="urn:microsoft.com/office/officeart/2008/layout/LinedList"/>
    <dgm:cxn modelId="{1A5821AD-2514-5B42-8624-31D786A8512A}" type="presParOf" srcId="{F450EF0D-716E-FF42-BEA0-1F6E6DF06F94}" destId="{89CC2E74-3F7D-8C48-A6FA-7BCF91E4B288}" srcOrd="2" destOrd="0" presId="urn:microsoft.com/office/officeart/2008/layout/LinedList"/>
    <dgm:cxn modelId="{92FAB8C8-D9D8-F04C-AE51-95C6E1D69C44}" type="presParOf" srcId="{714926A9-82DE-4D4C-8B2C-C064C54448D4}" destId="{97556684-543B-4B4A-A7CB-ABEAB14EFC89}" srcOrd="8" destOrd="0" presId="urn:microsoft.com/office/officeart/2008/layout/LinedList"/>
    <dgm:cxn modelId="{FE43B8B7-B0F4-2147-A2B7-023094982B6E}" type="presParOf" srcId="{714926A9-82DE-4D4C-8B2C-C064C54448D4}" destId="{55F8E5BD-DD26-4B4D-9088-DC7E3BB3DC08}" srcOrd="9" destOrd="0" presId="urn:microsoft.com/office/officeart/2008/layout/LinedList"/>
    <dgm:cxn modelId="{B6ECB9A1-195F-7C40-8F48-A1EB1C6C92BE}" type="presParOf" srcId="{FACC9A55-2D5D-EE4C-A56A-228A92D18C42}" destId="{A29112A5-039B-A746-9E10-69EAB781CFF0}" srcOrd="4" destOrd="0" presId="urn:microsoft.com/office/officeart/2008/layout/LinedList"/>
    <dgm:cxn modelId="{205DFD35-C816-C84E-9ECF-780D26BC2B03}" type="presParOf" srcId="{FACC9A55-2D5D-EE4C-A56A-228A92D18C42}" destId="{49DD8291-CD88-6B46-A0CD-1206AC96732F}" srcOrd="5" destOrd="0" presId="urn:microsoft.com/office/officeart/2008/layout/LinedList"/>
    <dgm:cxn modelId="{1AEE5A01-1C03-B54A-AC46-F66ADEF8EBE5}" type="presParOf" srcId="{49DD8291-CD88-6B46-A0CD-1206AC96732F}" destId="{968906B4-3354-924D-93DF-39EDC164BCAC}" srcOrd="0" destOrd="0" presId="urn:microsoft.com/office/officeart/2008/layout/LinedList"/>
    <dgm:cxn modelId="{3249CAAC-B894-404E-AFC9-323355C017AD}" type="presParOf" srcId="{49DD8291-CD88-6B46-A0CD-1206AC96732F}" destId="{068E5D4C-E53F-4F43-A2E2-1A171B9EF8AD}" srcOrd="1" destOrd="0" presId="urn:microsoft.com/office/officeart/2008/layout/LinedList"/>
    <dgm:cxn modelId="{FE52C8AA-B809-5B4C-AE38-4CB0D99ACEF3}" type="presParOf" srcId="{068E5D4C-E53F-4F43-A2E2-1A171B9EF8AD}" destId="{FB8CE7F7-2B4D-1D46-84FA-47A9123F8194}" srcOrd="0" destOrd="0" presId="urn:microsoft.com/office/officeart/2008/layout/LinedList"/>
    <dgm:cxn modelId="{B6DE4CD7-0BF0-8141-AFEE-9E605710A7CA}" type="presParOf" srcId="{068E5D4C-E53F-4F43-A2E2-1A171B9EF8AD}" destId="{B9F38ECB-8A72-3C48-9E8C-1B05ABACF528}" srcOrd="1" destOrd="0" presId="urn:microsoft.com/office/officeart/2008/layout/LinedList"/>
    <dgm:cxn modelId="{35A0EDFE-7DD1-574B-A366-E2E9B473F8AD}" type="presParOf" srcId="{B9F38ECB-8A72-3C48-9E8C-1B05ABACF528}" destId="{F82ED485-7975-0549-8B58-1DD8289EC7B0}" srcOrd="0" destOrd="0" presId="urn:microsoft.com/office/officeart/2008/layout/LinedList"/>
    <dgm:cxn modelId="{33D99538-0917-7A44-9150-63EC53527207}" type="presParOf" srcId="{B9F38ECB-8A72-3C48-9E8C-1B05ABACF528}" destId="{13228B9A-C547-DD47-A5A6-6BB9CA093FA8}" srcOrd="1" destOrd="0" presId="urn:microsoft.com/office/officeart/2008/layout/LinedList"/>
    <dgm:cxn modelId="{71E8DC55-BF3A-D444-9D79-CF122A8DF616}" type="presParOf" srcId="{B9F38ECB-8A72-3C48-9E8C-1B05ABACF528}" destId="{CC0EE16E-701C-E742-9491-688E9BD5C516}" srcOrd="2" destOrd="0" presId="urn:microsoft.com/office/officeart/2008/layout/LinedList"/>
    <dgm:cxn modelId="{01722797-3962-FD4C-BBD8-7A399D6C53F4}" type="presParOf" srcId="{068E5D4C-E53F-4F43-A2E2-1A171B9EF8AD}" destId="{37482B7B-13BF-F54C-B206-9EB918F202A1}" srcOrd="2" destOrd="0" presId="urn:microsoft.com/office/officeart/2008/layout/LinedList"/>
    <dgm:cxn modelId="{1A29F7A5-FB41-344A-8C8D-8EBEFE0B9A07}" type="presParOf" srcId="{068E5D4C-E53F-4F43-A2E2-1A171B9EF8AD}" destId="{D620B7B3-678B-3B4C-A1FB-B22AD38E3D73}" srcOrd="3" destOrd="0" presId="urn:microsoft.com/office/officeart/2008/layout/LinedList"/>
    <dgm:cxn modelId="{8FD79A53-6237-BE46-B3EF-E95614BC8D54}" type="presParOf" srcId="{068E5D4C-E53F-4F43-A2E2-1A171B9EF8AD}" destId="{737235C9-C3AC-F04D-AEC4-1A84E105B15B}" srcOrd="4" destOrd="0" presId="urn:microsoft.com/office/officeart/2008/layout/LinedList"/>
    <dgm:cxn modelId="{198115BD-AD33-A543-A5E3-C21FC0D24EBA}" type="presParOf" srcId="{737235C9-C3AC-F04D-AEC4-1A84E105B15B}" destId="{C62735ED-EA80-3046-9F0C-4852D3460077}" srcOrd="0" destOrd="0" presId="urn:microsoft.com/office/officeart/2008/layout/LinedList"/>
    <dgm:cxn modelId="{42F62350-83CF-DA4F-9130-753DA715664A}" type="presParOf" srcId="{737235C9-C3AC-F04D-AEC4-1A84E105B15B}" destId="{8D144847-6CB1-534C-9AF3-59EF62943D0A}" srcOrd="1" destOrd="0" presId="urn:microsoft.com/office/officeart/2008/layout/LinedList"/>
    <dgm:cxn modelId="{B9EA047A-3E2D-E342-B8CC-4E4379AFB10C}" type="presParOf" srcId="{737235C9-C3AC-F04D-AEC4-1A84E105B15B}" destId="{5CCF619F-C0A8-1242-9082-CE1F326AA11A}" srcOrd="2" destOrd="0" presId="urn:microsoft.com/office/officeart/2008/layout/LinedList"/>
    <dgm:cxn modelId="{B3185A88-5DEA-F344-B810-ED892A174E7F}" type="presParOf" srcId="{068E5D4C-E53F-4F43-A2E2-1A171B9EF8AD}" destId="{CA08A817-9952-5F46-9AE7-CAFEE167745E}" srcOrd="5" destOrd="0" presId="urn:microsoft.com/office/officeart/2008/layout/LinedList"/>
    <dgm:cxn modelId="{1AF81DBD-28D3-7843-9CAF-6B3470C77671}" type="presParOf" srcId="{068E5D4C-E53F-4F43-A2E2-1A171B9EF8AD}" destId="{E5EF124D-8C5C-7745-92B8-BA81F21CE79B}" srcOrd="6" destOrd="0" presId="urn:microsoft.com/office/officeart/2008/layout/LinedList"/>
    <dgm:cxn modelId="{1CA30660-95CC-794F-9EAD-B0644826B18F}" type="presParOf" srcId="{068E5D4C-E53F-4F43-A2E2-1A171B9EF8AD}" destId="{CE2AC31C-BE23-3B43-A2A0-81A5F5433B8E}" srcOrd="7" destOrd="0" presId="urn:microsoft.com/office/officeart/2008/layout/LinedList"/>
    <dgm:cxn modelId="{4F825035-A2C3-6E45-8CD0-43155ABF6649}" type="presParOf" srcId="{CE2AC31C-BE23-3B43-A2A0-81A5F5433B8E}" destId="{3EC1D140-3E74-F947-8B16-5EA3E5A5CC8E}" srcOrd="0" destOrd="0" presId="urn:microsoft.com/office/officeart/2008/layout/LinedList"/>
    <dgm:cxn modelId="{58AD0888-C333-2A48-8FCC-5EDF7FFC3826}" type="presParOf" srcId="{CE2AC31C-BE23-3B43-A2A0-81A5F5433B8E}" destId="{861DB245-A10B-D54A-9C79-79914B95D686}" srcOrd="1" destOrd="0" presId="urn:microsoft.com/office/officeart/2008/layout/LinedList"/>
    <dgm:cxn modelId="{04ABEF8B-7F80-6145-9DA8-1ED1E7D45230}" type="presParOf" srcId="{CE2AC31C-BE23-3B43-A2A0-81A5F5433B8E}" destId="{EBB09CC2-D334-9B48-889B-D031DDDBBE8B}" srcOrd="2" destOrd="0" presId="urn:microsoft.com/office/officeart/2008/layout/LinedList"/>
    <dgm:cxn modelId="{BA9B1131-1535-0F43-8501-73BAA36DE369}" type="presParOf" srcId="{068E5D4C-E53F-4F43-A2E2-1A171B9EF8AD}" destId="{66F52370-FA48-FE47-8C74-708B04422E57}" srcOrd="8" destOrd="0" presId="urn:microsoft.com/office/officeart/2008/layout/LinedList"/>
    <dgm:cxn modelId="{D1948CBA-8271-1E46-BA91-83AF3AF5F7A2}" type="presParOf" srcId="{068E5D4C-E53F-4F43-A2E2-1A171B9EF8AD}" destId="{D8BD5BF7-8B24-014C-90F3-6B203B22B4B7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2F0D0-2E30-9449-99DB-794F36E954BB}">
      <dsp:nvSpPr>
        <dsp:cNvPr id="0" name=""/>
        <dsp:cNvSpPr/>
      </dsp:nvSpPr>
      <dsp:spPr>
        <a:xfrm>
          <a:off x="0" y="5142537"/>
          <a:ext cx="5867399" cy="37517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References </a:t>
          </a:r>
        </a:p>
      </dsp:txBody>
      <dsp:txXfrm>
        <a:off x="0" y="5142537"/>
        <a:ext cx="5867399" cy="375171"/>
      </dsp:txXfrm>
    </dsp:sp>
    <dsp:sp modelId="{5BD7DDA8-BE67-DE49-87FC-670D5E6D77F0}">
      <dsp:nvSpPr>
        <dsp:cNvPr id="0" name=""/>
        <dsp:cNvSpPr/>
      </dsp:nvSpPr>
      <dsp:spPr>
        <a:xfrm rot="10800000">
          <a:off x="0" y="4571151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Questions </a:t>
          </a:r>
        </a:p>
      </dsp:txBody>
      <dsp:txXfrm rot="10800000">
        <a:off x="0" y="4571151"/>
        <a:ext cx="5867399" cy="374926"/>
      </dsp:txXfrm>
    </dsp:sp>
    <dsp:sp modelId="{1B2483C9-8850-164F-B5B9-CAC911E4839B}">
      <dsp:nvSpPr>
        <dsp:cNvPr id="0" name=""/>
        <dsp:cNvSpPr/>
      </dsp:nvSpPr>
      <dsp:spPr>
        <a:xfrm rot="10800000">
          <a:off x="0" y="3999766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Website </a:t>
          </a:r>
        </a:p>
      </dsp:txBody>
      <dsp:txXfrm rot="10800000">
        <a:off x="0" y="3999766"/>
        <a:ext cx="5867399" cy="374926"/>
      </dsp:txXfrm>
    </dsp:sp>
    <dsp:sp modelId="{EE2B210C-5942-3A4F-973F-EC64A27A2F9E}">
      <dsp:nvSpPr>
        <dsp:cNvPr id="0" name=""/>
        <dsp:cNvSpPr/>
      </dsp:nvSpPr>
      <dsp:spPr>
        <a:xfrm rot="10800000">
          <a:off x="0" y="3428380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Recommendations </a:t>
          </a:r>
        </a:p>
      </dsp:txBody>
      <dsp:txXfrm rot="10800000">
        <a:off x="0" y="3428380"/>
        <a:ext cx="5867399" cy="374926"/>
      </dsp:txXfrm>
    </dsp:sp>
    <dsp:sp modelId="{495E72E8-387B-9941-A6FD-ED9DE3AA6BAA}">
      <dsp:nvSpPr>
        <dsp:cNvPr id="0" name=""/>
        <dsp:cNvSpPr/>
      </dsp:nvSpPr>
      <dsp:spPr>
        <a:xfrm rot="10800000">
          <a:off x="0" y="2856995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Discussion </a:t>
          </a:r>
        </a:p>
      </dsp:txBody>
      <dsp:txXfrm rot="10800000">
        <a:off x="0" y="2856995"/>
        <a:ext cx="5867399" cy="374926"/>
      </dsp:txXfrm>
    </dsp:sp>
    <dsp:sp modelId="{40AAEAE3-DA25-4F46-93FB-F498436A5CFB}">
      <dsp:nvSpPr>
        <dsp:cNvPr id="0" name=""/>
        <dsp:cNvSpPr/>
      </dsp:nvSpPr>
      <dsp:spPr>
        <a:xfrm rot="10800000">
          <a:off x="0" y="2285609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Results </a:t>
          </a:r>
        </a:p>
      </dsp:txBody>
      <dsp:txXfrm rot="10800000">
        <a:off x="0" y="2285609"/>
        <a:ext cx="5867399" cy="374926"/>
      </dsp:txXfrm>
    </dsp:sp>
    <dsp:sp modelId="{C47B803E-4DCA-AD46-9347-B23FF3FA0FE8}">
      <dsp:nvSpPr>
        <dsp:cNvPr id="0" name=""/>
        <dsp:cNvSpPr/>
      </dsp:nvSpPr>
      <dsp:spPr>
        <a:xfrm rot="10800000">
          <a:off x="0" y="1714224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Statistical Analysis </a:t>
          </a:r>
        </a:p>
      </dsp:txBody>
      <dsp:txXfrm rot="10800000">
        <a:off x="0" y="1714224"/>
        <a:ext cx="5867399" cy="374926"/>
      </dsp:txXfrm>
    </dsp:sp>
    <dsp:sp modelId="{EB004F39-4371-554D-8B55-AD9A02B41EBD}">
      <dsp:nvSpPr>
        <dsp:cNvPr id="0" name=""/>
        <dsp:cNvSpPr/>
      </dsp:nvSpPr>
      <dsp:spPr>
        <a:xfrm rot="10800000">
          <a:off x="0" y="1142838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Methods </a:t>
          </a:r>
        </a:p>
      </dsp:txBody>
      <dsp:txXfrm rot="10800000">
        <a:off x="0" y="1142838"/>
        <a:ext cx="5867399" cy="374926"/>
      </dsp:txXfrm>
    </dsp:sp>
    <dsp:sp modelId="{8318797E-38A6-134C-8009-DFE90A0B85BB}">
      <dsp:nvSpPr>
        <dsp:cNvPr id="0" name=""/>
        <dsp:cNvSpPr/>
      </dsp:nvSpPr>
      <dsp:spPr>
        <a:xfrm rot="10800000">
          <a:off x="0" y="571453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Background</a:t>
          </a:r>
        </a:p>
      </dsp:txBody>
      <dsp:txXfrm rot="10800000">
        <a:off x="0" y="571453"/>
        <a:ext cx="5867399" cy="374926"/>
      </dsp:txXfrm>
    </dsp:sp>
    <dsp:sp modelId="{AAAC8DEC-1AF0-1143-96AE-D6EF31397844}">
      <dsp:nvSpPr>
        <dsp:cNvPr id="0" name=""/>
        <dsp:cNvSpPr/>
      </dsp:nvSpPr>
      <dsp:spPr>
        <a:xfrm rot="10800000">
          <a:off x="0" y="67"/>
          <a:ext cx="5867399" cy="577013"/>
        </a:xfrm>
        <a:prstGeom prst="upArrowCallou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eorgia" panose="02040502050405020303" pitchFamily="18" charset="0"/>
            </a:rPr>
            <a:t>Introduction </a:t>
          </a:r>
        </a:p>
      </dsp:txBody>
      <dsp:txXfrm rot="10800000">
        <a:off x="0" y="67"/>
        <a:ext cx="5867399" cy="3749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0D807-919B-4935-AA37-38EE92AA0A2C}">
      <dsp:nvSpPr>
        <dsp:cNvPr id="0" name=""/>
        <dsp:cNvSpPr/>
      </dsp:nvSpPr>
      <dsp:spPr>
        <a:xfrm>
          <a:off x="0" y="1811"/>
          <a:ext cx="3810000" cy="9183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5100D-6EF7-4C1A-9F31-566BC2D1AD1F}">
      <dsp:nvSpPr>
        <dsp:cNvPr id="0" name=""/>
        <dsp:cNvSpPr/>
      </dsp:nvSpPr>
      <dsp:spPr>
        <a:xfrm>
          <a:off x="277786" y="208429"/>
          <a:ext cx="505065" cy="5050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21729-E15D-4CD2-BB63-2476DD3D0ED3}">
      <dsp:nvSpPr>
        <dsp:cNvPr id="0" name=""/>
        <dsp:cNvSpPr/>
      </dsp:nvSpPr>
      <dsp:spPr>
        <a:xfrm>
          <a:off x="1060638" y="1811"/>
          <a:ext cx="2749361" cy="918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87" tIns="97187" rIns="97187" bIns="9718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Source: 2024 Behavioral Risk Factor Surveillance System (BRFSS)</a:t>
          </a:r>
        </a:p>
      </dsp:txBody>
      <dsp:txXfrm>
        <a:off x="1060638" y="1811"/>
        <a:ext cx="2749361" cy="918301"/>
      </dsp:txXfrm>
    </dsp:sp>
    <dsp:sp modelId="{FED3C88C-1496-4AA5-863C-600677F73C18}">
      <dsp:nvSpPr>
        <dsp:cNvPr id="0" name=""/>
        <dsp:cNvSpPr/>
      </dsp:nvSpPr>
      <dsp:spPr>
        <a:xfrm>
          <a:off x="0" y="1149689"/>
          <a:ext cx="3810000" cy="9183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F49E0-EAE5-4EF1-BB39-231D1B2B718C}">
      <dsp:nvSpPr>
        <dsp:cNvPr id="0" name=""/>
        <dsp:cNvSpPr/>
      </dsp:nvSpPr>
      <dsp:spPr>
        <a:xfrm>
          <a:off x="277786" y="1356306"/>
          <a:ext cx="505065" cy="5050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55B9F-BB62-49F8-84BB-D8F0D732D8DD}">
      <dsp:nvSpPr>
        <dsp:cNvPr id="0" name=""/>
        <dsp:cNvSpPr/>
      </dsp:nvSpPr>
      <dsp:spPr>
        <a:xfrm>
          <a:off x="1060638" y="1149689"/>
          <a:ext cx="2749361" cy="918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87" tIns="97187" rIns="97187" bIns="9718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Cross‑sectional analytic study</a:t>
          </a:r>
        </a:p>
      </dsp:txBody>
      <dsp:txXfrm>
        <a:off x="1060638" y="1149689"/>
        <a:ext cx="2749361" cy="918301"/>
      </dsp:txXfrm>
    </dsp:sp>
    <dsp:sp modelId="{9DCA63FB-0CB5-44E6-85A1-0177EFB2C063}">
      <dsp:nvSpPr>
        <dsp:cNvPr id="0" name=""/>
        <dsp:cNvSpPr/>
      </dsp:nvSpPr>
      <dsp:spPr>
        <a:xfrm>
          <a:off x="0" y="2297566"/>
          <a:ext cx="3810000" cy="9183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816CB-8F72-4562-A08F-0D712BE25AC2}">
      <dsp:nvSpPr>
        <dsp:cNvPr id="0" name=""/>
        <dsp:cNvSpPr/>
      </dsp:nvSpPr>
      <dsp:spPr>
        <a:xfrm>
          <a:off x="277786" y="2504184"/>
          <a:ext cx="505065" cy="5050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1856A-B359-44FD-900D-D9F62664FE01}">
      <dsp:nvSpPr>
        <dsp:cNvPr id="0" name=""/>
        <dsp:cNvSpPr/>
      </dsp:nvSpPr>
      <dsp:spPr>
        <a:xfrm>
          <a:off x="1060638" y="2297566"/>
          <a:ext cx="2749361" cy="918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87" tIns="97187" rIns="97187" bIns="9718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Analysis conducted using RStudio (2025.09.2+418)</a:t>
          </a:r>
        </a:p>
      </dsp:txBody>
      <dsp:txXfrm>
        <a:off x="1060638" y="2297566"/>
        <a:ext cx="2749361" cy="918301"/>
      </dsp:txXfrm>
    </dsp:sp>
    <dsp:sp modelId="{3405E16F-1D91-40B8-838F-1870C080370D}">
      <dsp:nvSpPr>
        <dsp:cNvPr id="0" name=""/>
        <dsp:cNvSpPr/>
      </dsp:nvSpPr>
      <dsp:spPr>
        <a:xfrm>
          <a:off x="0" y="3445443"/>
          <a:ext cx="3810000" cy="9183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70ADC-E40C-4A87-956B-11D3E5FB6B39}">
      <dsp:nvSpPr>
        <dsp:cNvPr id="0" name=""/>
        <dsp:cNvSpPr/>
      </dsp:nvSpPr>
      <dsp:spPr>
        <a:xfrm>
          <a:off x="277786" y="3652061"/>
          <a:ext cx="505065" cy="5050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84D93-80C7-42C4-844E-6162B032D598}">
      <dsp:nvSpPr>
        <dsp:cNvPr id="0" name=""/>
        <dsp:cNvSpPr/>
      </dsp:nvSpPr>
      <dsp:spPr>
        <a:xfrm>
          <a:off x="1060638" y="3445443"/>
          <a:ext cx="2749361" cy="918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87" tIns="97187" rIns="97187" bIns="9718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Logistic regression models used to evaluate screening adherence</a:t>
          </a:r>
        </a:p>
      </dsp:txBody>
      <dsp:txXfrm>
        <a:off x="1060638" y="3445443"/>
        <a:ext cx="2749361" cy="9183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C4EA0-7AC1-8C41-8AF6-7817DFFD8CB0}">
      <dsp:nvSpPr>
        <dsp:cNvPr id="0" name=""/>
        <dsp:cNvSpPr/>
      </dsp:nvSpPr>
      <dsp:spPr>
        <a:xfrm>
          <a:off x="436037" y="873"/>
          <a:ext cx="4116782" cy="2675908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Key Indicators: 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Recent Routine Checkup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Having a Personal Doctor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Insured vs Uninsured (With Personal Provider)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Cost Related Barriers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Race/ Ethnicity </a:t>
          </a:r>
        </a:p>
      </dsp:txBody>
      <dsp:txXfrm>
        <a:off x="566664" y="131500"/>
        <a:ext cx="3855528" cy="2414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6B78C-AAFC-684F-A3CA-3B80B19C4576}">
      <dsp:nvSpPr>
        <dsp:cNvPr id="0" name=""/>
        <dsp:cNvSpPr/>
      </dsp:nvSpPr>
      <dsp:spPr>
        <a:xfrm>
          <a:off x="0" y="235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5003-D3A2-9844-AE13-D142D82EC77E}">
      <dsp:nvSpPr>
        <dsp:cNvPr id="0" name=""/>
        <dsp:cNvSpPr/>
      </dsp:nvSpPr>
      <dsp:spPr>
        <a:xfrm>
          <a:off x="0" y="2358"/>
          <a:ext cx="1645920" cy="160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/>
            <a:t>Research</a:t>
          </a:r>
          <a:endParaRPr lang="en-US" sz="2900" kern="1200"/>
        </a:p>
      </dsp:txBody>
      <dsp:txXfrm>
        <a:off x="0" y="2358"/>
        <a:ext cx="1645920" cy="1608681"/>
      </dsp:txXfrm>
    </dsp:sp>
    <dsp:sp modelId="{E83E1494-6EEC-FE4F-ADA4-BA5F2EE8B753}">
      <dsp:nvSpPr>
        <dsp:cNvPr id="0" name=""/>
        <dsp:cNvSpPr/>
      </dsp:nvSpPr>
      <dsp:spPr>
        <a:xfrm>
          <a:off x="1769364" y="27494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Longitudinal studies to establish causality between access factors and screening adherence.</a:t>
          </a:r>
        </a:p>
      </dsp:txBody>
      <dsp:txXfrm>
        <a:off x="1769364" y="27494"/>
        <a:ext cx="6460236" cy="502713"/>
      </dsp:txXfrm>
    </dsp:sp>
    <dsp:sp modelId="{AF251632-5C2C-4942-997F-73D1D5BBD5D9}">
      <dsp:nvSpPr>
        <dsp:cNvPr id="0" name=""/>
        <dsp:cNvSpPr/>
      </dsp:nvSpPr>
      <dsp:spPr>
        <a:xfrm>
          <a:off x="1645920" y="530207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3799D-5E37-454A-B711-B42687CC7315}">
      <dsp:nvSpPr>
        <dsp:cNvPr id="0" name=""/>
        <dsp:cNvSpPr/>
      </dsp:nvSpPr>
      <dsp:spPr>
        <a:xfrm>
          <a:off x="1769364" y="555343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Incorporate HPV awareness measures in future BRFSS modules.</a:t>
          </a:r>
        </a:p>
      </dsp:txBody>
      <dsp:txXfrm>
        <a:off x="1769364" y="555343"/>
        <a:ext cx="6460236" cy="502713"/>
      </dsp:txXfrm>
    </dsp:sp>
    <dsp:sp modelId="{8243FFA1-45D5-B14C-B027-0A0126D8ED1D}">
      <dsp:nvSpPr>
        <dsp:cNvPr id="0" name=""/>
        <dsp:cNvSpPr/>
      </dsp:nvSpPr>
      <dsp:spPr>
        <a:xfrm>
          <a:off x="1645920" y="105805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BAE2B-671D-6F4F-AA4D-486D3A6879FE}">
      <dsp:nvSpPr>
        <dsp:cNvPr id="0" name=""/>
        <dsp:cNvSpPr/>
      </dsp:nvSpPr>
      <dsp:spPr>
        <a:xfrm>
          <a:off x="1769364" y="1083191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 mixed-methods research to further explore cultural and structural barriers by race/ethnicity.</a:t>
          </a:r>
        </a:p>
      </dsp:txBody>
      <dsp:txXfrm>
        <a:off x="1769364" y="1083191"/>
        <a:ext cx="6460236" cy="502713"/>
      </dsp:txXfrm>
    </dsp:sp>
    <dsp:sp modelId="{736388B8-CF52-6946-8FD5-2900E52C7257}">
      <dsp:nvSpPr>
        <dsp:cNvPr id="0" name=""/>
        <dsp:cNvSpPr/>
      </dsp:nvSpPr>
      <dsp:spPr>
        <a:xfrm>
          <a:off x="1645920" y="1585904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5B7A0-EAD6-9F40-8812-8566A795AFD3}">
      <dsp:nvSpPr>
        <dsp:cNvPr id="0" name=""/>
        <dsp:cNvSpPr/>
      </dsp:nvSpPr>
      <dsp:spPr>
        <a:xfrm>
          <a:off x="0" y="161104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E3956-4B51-D446-90D2-C93AAA71902E}">
      <dsp:nvSpPr>
        <dsp:cNvPr id="0" name=""/>
        <dsp:cNvSpPr/>
      </dsp:nvSpPr>
      <dsp:spPr>
        <a:xfrm>
          <a:off x="0" y="1611040"/>
          <a:ext cx="1645920" cy="160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/>
            <a:t>Practice </a:t>
          </a:r>
          <a:endParaRPr lang="en-US" sz="2900" kern="1200"/>
        </a:p>
      </dsp:txBody>
      <dsp:txXfrm>
        <a:off x="0" y="1611040"/>
        <a:ext cx="1645920" cy="1608681"/>
      </dsp:txXfrm>
    </dsp:sp>
    <dsp:sp modelId="{19FA5821-D70A-864B-9E81-790B3501B442}">
      <dsp:nvSpPr>
        <dsp:cNvPr id="0" name=""/>
        <dsp:cNvSpPr/>
      </dsp:nvSpPr>
      <dsp:spPr>
        <a:xfrm>
          <a:off x="1769364" y="1636176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Clinicians should use every patient encounter as an opportunity to promote cancer screening.</a:t>
          </a:r>
        </a:p>
      </dsp:txBody>
      <dsp:txXfrm>
        <a:off x="1769364" y="1636176"/>
        <a:ext cx="6460236" cy="502713"/>
      </dsp:txXfrm>
    </dsp:sp>
    <dsp:sp modelId="{3822F463-56A2-CE48-8BE8-8D0ADC1CB681}">
      <dsp:nvSpPr>
        <dsp:cNvPr id="0" name=""/>
        <dsp:cNvSpPr/>
      </dsp:nvSpPr>
      <dsp:spPr>
        <a:xfrm>
          <a:off x="1645920" y="213888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026FA-EEEE-834C-9430-45F5075384C7}">
      <dsp:nvSpPr>
        <dsp:cNvPr id="0" name=""/>
        <dsp:cNvSpPr/>
      </dsp:nvSpPr>
      <dsp:spPr>
        <a:xfrm>
          <a:off x="1769364" y="2164024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Strengthen patient-provider continuity to leverage the demonstrated protective effect.</a:t>
          </a:r>
        </a:p>
      </dsp:txBody>
      <dsp:txXfrm>
        <a:off x="1769364" y="2164024"/>
        <a:ext cx="6460236" cy="502713"/>
      </dsp:txXfrm>
    </dsp:sp>
    <dsp:sp modelId="{8930EC1F-C7FF-8246-99A7-73DF48CA63FE}">
      <dsp:nvSpPr>
        <dsp:cNvPr id="0" name=""/>
        <dsp:cNvSpPr/>
      </dsp:nvSpPr>
      <dsp:spPr>
        <a:xfrm>
          <a:off x="1645920" y="2666738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F13DF4-EAEA-2847-AA25-21046BECD67F}">
      <dsp:nvSpPr>
        <dsp:cNvPr id="0" name=""/>
        <dsp:cNvSpPr/>
      </dsp:nvSpPr>
      <dsp:spPr>
        <a:xfrm>
          <a:off x="1769364" y="2691873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Train providers on culturally responsive communication to reduce equity gaps.</a:t>
          </a:r>
        </a:p>
      </dsp:txBody>
      <dsp:txXfrm>
        <a:off x="1769364" y="2691873"/>
        <a:ext cx="6460236" cy="502713"/>
      </dsp:txXfrm>
    </dsp:sp>
    <dsp:sp modelId="{97556684-543B-4B4A-A7CB-ABEAB14EFC89}">
      <dsp:nvSpPr>
        <dsp:cNvPr id="0" name=""/>
        <dsp:cNvSpPr/>
      </dsp:nvSpPr>
      <dsp:spPr>
        <a:xfrm>
          <a:off x="1645920" y="319458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112A5-039B-A746-9E10-69EAB781CFF0}">
      <dsp:nvSpPr>
        <dsp:cNvPr id="0" name=""/>
        <dsp:cNvSpPr/>
      </dsp:nvSpPr>
      <dsp:spPr>
        <a:xfrm>
          <a:off x="0" y="321972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906B4-3354-924D-93DF-39EDC164BCAC}">
      <dsp:nvSpPr>
        <dsp:cNvPr id="0" name=""/>
        <dsp:cNvSpPr/>
      </dsp:nvSpPr>
      <dsp:spPr>
        <a:xfrm>
          <a:off x="0" y="3219722"/>
          <a:ext cx="1645920" cy="160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1" kern="1200"/>
            <a:t>Policy</a:t>
          </a:r>
          <a:endParaRPr lang="en-US" sz="2900" kern="1200"/>
        </a:p>
      </dsp:txBody>
      <dsp:txXfrm>
        <a:off x="0" y="3219722"/>
        <a:ext cx="1645920" cy="1608681"/>
      </dsp:txXfrm>
    </dsp:sp>
    <dsp:sp modelId="{13228B9A-C547-DD47-A5A6-6BB9CA093FA8}">
      <dsp:nvSpPr>
        <dsp:cNvPr id="0" name=""/>
        <dsp:cNvSpPr/>
      </dsp:nvSpPr>
      <dsp:spPr>
        <a:xfrm>
          <a:off x="1769364" y="3244858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Expand Medicaid and subsidized coverage to reduce cost barriers to preventive care.</a:t>
          </a:r>
        </a:p>
      </dsp:txBody>
      <dsp:txXfrm>
        <a:off x="1769364" y="3244858"/>
        <a:ext cx="6460236" cy="502713"/>
      </dsp:txXfrm>
    </dsp:sp>
    <dsp:sp modelId="{37482B7B-13BF-F54C-B206-9EB918F202A1}">
      <dsp:nvSpPr>
        <dsp:cNvPr id="0" name=""/>
        <dsp:cNvSpPr/>
      </dsp:nvSpPr>
      <dsp:spPr>
        <a:xfrm>
          <a:off x="1645920" y="3747571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44847-6CB1-534C-9AF3-59EF62943D0A}">
      <dsp:nvSpPr>
        <dsp:cNvPr id="0" name=""/>
        <dsp:cNvSpPr/>
      </dsp:nvSpPr>
      <dsp:spPr>
        <a:xfrm>
          <a:off x="1769364" y="3772706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Fund community health worker programs targeting under screened racial/ethnic groups.</a:t>
          </a:r>
        </a:p>
      </dsp:txBody>
      <dsp:txXfrm>
        <a:off x="1769364" y="3772706"/>
        <a:ext cx="6460236" cy="502713"/>
      </dsp:txXfrm>
    </dsp:sp>
    <dsp:sp modelId="{CA08A817-9952-5F46-9AE7-CAFEE167745E}">
      <dsp:nvSpPr>
        <dsp:cNvPr id="0" name=""/>
        <dsp:cNvSpPr/>
      </dsp:nvSpPr>
      <dsp:spPr>
        <a:xfrm>
          <a:off x="1645920" y="427541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DB245-A10B-D54A-9C79-79914B95D686}">
      <dsp:nvSpPr>
        <dsp:cNvPr id="0" name=""/>
        <dsp:cNvSpPr/>
      </dsp:nvSpPr>
      <dsp:spPr>
        <a:xfrm>
          <a:off x="1769364" y="4300555"/>
          <a:ext cx="6460236" cy="502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Mandate that BRFSS and similar surveys include HPV awareness and knowledge items.</a:t>
          </a:r>
        </a:p>
      </dsp:txBody>
      <dsp:txXfrm>
        <a:off x="1769364" y="4300555"/>
        <a:ext cx="6460236" cy="502713"/>
      </dsp:txXfrm>
    </dsp:sp>
    <dsp:sp modelId="{66F52370-FA48-FE47-8C74-708B04422E57}">
      <dsp:nvSpPr>
        <dsp:cNvPr id="0" name=""/>
        <dsp:cNvSpPr/>
      </dsp:nvSpPr>
      <dsp:spPr>
        <a:xfrm>
          <a:off x="1645920" y="4803268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6173" y="0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805989B-AC39-44D2-B360-C0BD1921A33C}" type="datetimeFigureOut">
              <a:rPr lang="en-US"/>
              <a:pPr>
                <a:defRPr/>
              </a:pPr>
              <a:t>4/21/26</a:t>
            </a:fld>
            <a:endParaRPr lang="en-US"/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6173" y="8772378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3852D24-0741-4372-8923-FBDA3186C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7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87" tIns="46244" rIns="92487" bIns="4624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747" y="0"/>
            <a:ext cx="3012329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87" tIns="46244" rIns="92487" bIns="4624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692150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992" y="4387767"/>
            <a:ext cx="5096092" cy="4155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87" tIns="46244" rIns="92487" bIns="462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3957"/>
            <a:ext cx="3012329" cy="462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87" tIns="46244" rIns="92487" bIns="4624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747" y="8773957"/>
            <a:ext cx="3012329" cy="462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87" tIns="46244" rIns="92487" bIns="4624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4B9D81A-FAA4-486D-9D6E-BC8084B29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20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A98ED-EE62-4140-9135-F24D0C83BEC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16450" cy="3463925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4411B6-A842-4431-B4DF-5AADCE1C734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16450" cy="3463925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18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8000A2-F5B0-4DF7-A9AD-92F25D016E9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16450" cy="3463925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Shorten into key words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B9D81A-FAA4-486D-9D6E-BC8084B29E8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68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64A1-4FF8-D3B5-F107-3034FC2C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F25C0-6949-F333-81DC-396804CAD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2C261-01F5-034B-D11A-3E2468AFF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subquestion</a:t>
            </a:r>
            <a:r>
              <a:rPr lang="en-US" dirty="0"/>
              <a:t>. -- this wis w</a:t>
            </a:r>
          </a:p>
          <a:p>
            <a:pPr marL="171450" indent="-171450">
              <a:buFontTx/>
              <a:buChar char="-"/>
            </a:pPr>
            <a:r>
              <a:rPr lang="en-US" dirty="0"/>
              <a:t>Don’t inherently call them </a:t>
            </a:r>
            <a:r>
              <a:rPr lang="en-US" dirty="0" err="1"/>
              <a:t>subsquestions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Key </a:t>
            </a:r>
            <a:r>
              <a:rPr lang="en-US" dirty="0" err="1"/>
              <a:t>indicatior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E1432-113B-FF3C-DBA2-92ED43143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B9D81A-FAA4-486D-9D6E-BC8084B29E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You cannot generalize it based on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  <a:sym typeface="Wingdings" pitchFamily="2" charset="2"/>
              </a:rPr>
              <a:t> 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Here are some basic points about survey weights in the analysis section:</a:t>
            </a:r>
          </a:p>
          <a:p>
            <a:pPr rtl="0" fontAlgn="base"/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BRFSS does not use a simple random sample, so not everyone has the same chance of being selected. Survey weights adjust for this unequal sampling.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Some groups are less likely to respond to surveys, which can bias results. Weights help correct for this nonresponse so the data better reflect the full population.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The data are also adjusted to match known population characteristics, like age, sex, and race. This ensures the sample aligns with real-world demographics.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Without weights, the analysis would only represent the people who answered the survey—not the broader population.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Using survey weights allows us to produce more accurate and generalizable estimates, like prevalence rates of health behaviors or conditions.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When combined with the survey design (like strata and clusters), weights also help produce correct confidence intervals and standard errors.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Script: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All analyses accounted for the complex BRFSS survey design, including weights, stratification, and clustering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This ensures that the findings are representative of the U.S. population and statistically valid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01 – Survey-Weighted GLM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I used survey-weighted generalized linear models to analyze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This helps produce unbiased estimates that reflect the broader population.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Because BRFSS is not a simple random sample, this approach allows us to correctly incorporate weights, strata, and clusters.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02 – Quasibinomial Distribution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Since my outcomes are binary—whether someone is up to date on screening—I used a binomial model.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I applied a quasibinomial distribution to account for overdispersion, which improves the accuracy of standard errors.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03 – Why Survey Weights Matter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BRFSS uses unequal sampling, so not everyone has the same chance of being selected.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Weights adjust for this, as well as nonresponse bias and demographic differences.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Without weights, results would only reflect survey respondents—not the general population.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04 – Covariates Adjusted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The models adjusted for key factors including age, race and ethnicity, insurance status, having a personal doctor, recent checkups, and cost-related barriers.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This allows us to isolate the independent effect of each factor on screening adherence.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B9D81A-FAA4-486D-9D6E-BC8084B29E8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692150"/>
            <a:ext cx="4616450" cy="3463925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07633">
              <a:defRPr/>
            </a:pPr>
            <a:endParaRPr lang="en-US" dirty="0">
              <a:latin typeface="Arial" charset="0"/>
            </a:endParaRPr>
          </a:p>
          <a:p>
            <a:pPr defTabSz="907633">
              <a:defRPr/>
            </a:pPr>
            <a:r>
              <a:rPr lang="en-US" dirty="0">
                <a:latin typeface="Arial" charset="0"/>
              </a:rPr>
              <a:t>**Insert notes related to</a:t>
            </a:r>
            <a:r>
              <a:rPr lang="en-US" baseline="0" dirty="0">
                <a:latin typeface="Arial" charset="0"/>
              </a:rPr>
              <a:t> the Methodology section here.  Delete if not needed.**</a:t>
            </a: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3D7679-E479-4668-AE72-A936C48AAE0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16450" cy="3463925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  <a:p>
            <a:pPr defTabSz="907633">
              <a:defRPr/>
            </a:pPr>
            <a:r>
              <a:rPr lang="en-US" dirty="0">
                <a:latin typeface="Arial" charset="0"/>
              </a:rPr>
              <a:t>**Insert notes related to</a:t>
            </a:r>
            <a:r>
              <a:rPr lang="en-US" baseline="0" dirty="0">
                <a:latin typeface="Arial" charset="0"/>
              </a:rPr>
              <a:t> the Purpose section here.  Delete if not needed.**</a:t>
            </a: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35"/>
          <p:cNvSpPr>
            <a:spLocks noChangeArrowheads="1"/>
          </p:cNvSpPr>
          <p:nvPr/>
        </p:nvSpPr>
        <p:spPr bwMode="auto">
          <a:xfrm>
            <a:off x="-28574" y="2296012"/>
            <a:ext cx="2044700" cy="1782763"/>
          </a:xfrm>
          <a:prstGeom prst="rect">
            <a:avLst/>
          </a:prstGeom>
          <a:solidFill>
            <a:srgbClr val="D2CEC2">
              <a:alpha val="78822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 pitchFamily="127" charset="0"/>
              <a:ea typeface="Geneva" pitchFamily="127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4701" y="4177716"/>
            <a:ext cx="6108700" cy="1765884"/>
          </a:xfrm>
        </p:spPr>
        <p:txBody>
          <a:bodyPr/>
          <a:lstStyle>
            <a:lvl1pPr marL="0" indent="0" algn="ctr">
              <a:buNone/>
              <a:defRPr b="1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1046" descr="caducei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</a:blip>
          <a:srcRect/>
          <a:stretch>
            <a:fillRect/>
          </a:stretch>
        </p:blipFill>
        <p:spPr bwMode="auto">
          <a:xfrm>
            <a:off x="3581400" y="-609600"/>
            <a:ext cx="6294437" cy="800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85A1B-4FE1-4B05-BAA2-22848BAA74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9425" y="2296011"/>
            <a:ext cx="2495551" cy="1805825"/>
          </a:xfrm>
          <a:prstGeom prst="rect">
            <a:avLst/>
          </a:prstGeom>
        </p:spPr>
      </p:pic>
      <p:sp>
        <p:nvSpPr>
          <p:cNvPr id="12" name="Rectangle 1032"/>
          <p:cNvSpPr>
            <a:spLocks noChangeArrowheads="1"/>
          </p:cNvSpPr>
          <p:nvPr/>
        </p:nvSpPr>
        <p:spPr bwMode="auto">
          <a:xfrm>
            <a:off x="2044701" y="2296012"/>
            <a:ext cx="7099300" cy="1782763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 pitchFamily="127" charset="0"/>
                <a:ea typeface="Geneva" pitchFamily="127" charset="-128"/>
              </a:rPr>
              <a:t>   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8151" y="2394955"/>
            <a:ext cx="7772400" cy="1470025"/>
          </a:xfr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lang="en-US" sz="44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Rectangle 1035"/>
          <p:cNvSpPr>
            <a:spLocks noChangeArrowheads="1"/>
          </p:cNvSpPr>
          <p:nvPr userDrawn="1"/>
        </p:nvSpPr>
        <p:spPr bwMode="auto">
          <a:xfrm>
            <a:off x="-28574" y="2296012"/>
            <a:ext cx="2044700" cy="1782763"/>
          </a:xfrm>
          <a:prstGeom prst="rect">
            <a:avLst/>
          </a:prstGeom>
          <a:solidFill>
            <a:srgbClr val="D2CEC2">
              <a:alpha val="78822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 pitchFamily="127" charset="0"/>
              <a:ea typeface="Geneva" pitchFamily="127" charset="-128"/>
            </a:endParaRPr>
          </a:p>
        </p:txBody>
      </p:sp>
      <p:pic>
        <p:nvPicPr>
          <p:cNvPr id="15" name="Picture 1046" descr="caducei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6000"/>
          </a:blip>
          <a:srcRect/>
          <a:stretch>
            <a:fillRect/>
          </a:stretch>
        </p:blipFill>
        <p:spPr bwMode="auto">
          <a:xfrm>
            <a:off x="3581400" y="-609600"/>
            <a:ext cx="6294437" cy="800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9425" y="2296011"/>
            <a:ext cx="2495551" cy="1805825"/>
          </a:xfrm>
          <a:prstGeom prst="rect">
            <a:avLst/>
          </a:prstGeom>
        </p:spPr>
      </p:pic>
      <p:sp>
        <p:nvSpPr>
          <p:cNvPr id="17" name="Rectangle 1032"/>
          <p:cNvSpPr>
            <a:spLocks noChangeArrowheads="1"/>
          </p:cNvSpPr>
          <p:nvPr userDrawn="1"/>
        </p:nvSpPr>
        <p:spPr bwMode="auto">
          <a:xfrm>
            <a:off x="2044701" y="2296012"/>
            <a:ext cx="7099300" cy="1782763"/>
          </a:xfrm>
          <a:prstGeom prst="rect">
            <a:avLst/>
          </a:prstGeom>
          <a:solidFill>
            <a:srgbClr val="EBEBEB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 pitchFamily="127" charset="0"/>
                <a:ea typeface="Geneva" pitchFamily="127" charset="-128"/>
              </a:rPr>
              <a:t>    </a:t>
            </a:r>
          </a:p>
        </p:txBody>
      </p:sp>
    </p:spTree>
    <p:extLst>
      <p:ext uri="{BB962C8B-B14F-4D97-AF65-F5344CB8AC3E}">
        <p14:creationId xmlns:p14="http://schemas.microsoft.com/office/powerpoint/2010/main" val="562152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 sz="20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 sz="18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 sz="16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 sz="16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3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 sz="20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 sz="18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 sz="16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 sz="1600" b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0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307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656"/>
            <a:ext cx="8229600" cy="274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0223"/>
            <a:ext cx="8839200" cy="725781"/>
          </a:xfrm>
        </p:spPr>
        <p:txBody>
          <a:bodyPr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68656"/>
            <a:ext cx="8229600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14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307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0223"/>
            <a:ext cx="8839200" cy="725781"/>
          </a:xfrm>
        </p:spPr>
        <p:txBody>
          <a:bodyPr>
            <a:no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367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2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4325" y="19799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lang="en-US" sz="44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635E90-ACA9-458D-9EB4-BA78592FAF9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9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33CAD-44B5-4228-93E1-E71C3218EA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13968" y="19799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4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33CAD-44B5-4228-93E1-E71C3218EA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33CAD-44B5-4228-93E1-E71C3218EA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58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3">
                    <a:lumMod val="25000"/>
                  </a:schemeClr>
                </a:solidFill>
              </a:defRPr>
            </a:lvl1pPr>
            <a:lvl2pPr>
              <a:defRPr sz="2000">
                <a:solidFill>
                  <a:schemeClr val="accent3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accent3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accent3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accent3">
                    <a:lumMod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830AC2-AC10-4005-AA46-0357DA6586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13968" y="221810"/>
            <a:ext cx="8839200" cy="725781"/>
          </a:xfrm>
        </p:spPr>
        <p:txBody>
          <a:bodyPr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7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2389B0-2EF8-4A82-B921-76E6F43A6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50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2389B0-2EF8-4A82-B921-76E6F43A6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09800" y="-344104"/>
            <a:ext cx="5410200" cy="7202104"/>
          </a:xfrm>
          <a:prstGeom prst="rect">
            <a:avLst/>
          </a:prstGeom>
          <a:blipFill dpi="0" rotWithShape="1">
            <a:blip r:embed="rId2">
              <a:alphaModFix amt="55000"/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4948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2389B0-2EF8-4A82-B921-76E6F43A6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33018" y="28004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48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C093-6417-42FA-B064-577C95D63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55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C093-6417-42FA-B064-577C95D63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b="19128"/>
          <a:stretch/>
        </p:blipFill>
        <p:spPr bwMode="auto">
          <a:xfrm>
            <a:off x="8458200" y="5733310"/>
            <a:ext cx="695176" cy="74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b="19128"/>
          <a:stretch/>
        </p:blipFill>
        <p:spPr bwMode="auto">
          <a:xfrm>
            <a:off x="8458200" y="5733310"/>
            <a:ext cx="695176" cy="74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753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C093-6417-42FA-B064-577C95D63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92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00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5AA155-C4ED-4DCE-B307-8421764E38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25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24D57E-EC10-42CD-B8FE-9FF0A3105B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02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AC761B-F0E7-4206-A35C-126902D01F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15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6D7A1-57D9-4924-BDBE-EA11545551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33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Georgia" panose="02040502050405020303" pitchFamily="18" charset="0"/>
              </a:defRPr>
            </a:lvl1pPr>
            <a:lvl2pPr>
              <a:defRPr sz="2000">
                <a:latin typeface="Georgia" panose="02040502050405020303" pitchFamily="18" charset="0"/>
              </a:defRPr>
            </a:lvl2pPr>
            <a:lvl3pPr>
              <a:defRPr sz="1800">
                <a:latin typeface="Georgia" panose="02040502050405020303" pitchFamily="18" charset="0"/>
              </a:defRPr>
            </a:lvl3pPr>
            <a:lvl4pPr>
              <a:defRPr sz="1600">
                <a:latin typeface="Georgia" panose="02040502050405020303" pitchFamily="18" charset="0"/>
              </a:defRPr>
            </a:lvl4pPr>
            <a:lvl5pPr>
              <a:defRPr sz="1600"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264A9-B087-45D7-917A-9373B082A6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4325" y="19799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874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33CAD-44B5-4228-93E1-E71C3218EA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13968" y="19799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0233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830AC2-AC10-4005-AA46-0357DA6586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13968" y="221810"/>
            <a:ext cx="8839200" cy="725781"/>
          </a:xfrm>
        </p:spPr>
        <p:txBody>
          <a:bodyPr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190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2389B0-2EF8-4A82-B921-76E6F43A6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" y="868656"/>
            <a:ext cx="8230313" cy="27434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33018" y="280047"/>
            <a:ext cx="8839200" cy="725781"/>
          </a:xfrm>
        </p:spPr>
        <p:txBody>
          <a:bodyPr>
            <a:noAutofit/>
          </a:bodyPr>
          <a:lstStyle>
            <a:lvl1pPr algn="l">
              <a:defRPr lang="en-US" sz="4000" b="1" kern="1200" dirty="0">
                <a:solidFill>
                  <a:srgbClr val="0000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621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1896C5-9DE1-4731-B672-72AA5F5726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b="19128"/>
          <a:stretch/>
        </p:blipFill>
        <p:spPr bwMode="auto">
          <a:xfrm>
            <a:off x="8458200" y="5733310"/>
            <a:ext cx="695176" cy="74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8458200" y="0"/>
            <a:ext cx="6858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" b="19128"/>
          <a:stretch/>
        </p:blipFill>
        <p:spPr bwMode="auto">
          <a:xfrm>
            <a:off x="8458200" y="5733310"/>
            <a:ext cx="695176" cy="74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533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69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68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  <p:sldLayoutId id="2147484063" r:id="rId18"/>
    <p:sldLayoutId id="2147484064" r:id="rId19"/>
    <p:sldLayoutId id="2147484065" r:id="rId20"/>
    <p:sldLayoutId id="2147484066" r:id="rId21"/>
    <p:sldLayoutId id="2147484067" r:id="rId22"/>
    <p:sldLayoutId id="2147483997" r:id="rId23"/>
    <p:sldLayoutId id="2147483987" r:id="rId24"/>
    <p:sldLayoutId id="2147483988" r:id="rId25"/>
    <p:sldLayoutId id="2147484000" r:id="rId26"/>
  </p:sldLayoutIdLst>
  <p:txStyles>
    <p:titleStyle>
      <a:lvl1pPr algn="ctr" defTabSz="914377" rtl="0" eaLnBrk="1" latinLnBrk="0" hangingPunct="1">
        <a:spcBef>
          <a:spcPct val="0"/>
        </a:spcBef>
        <a:buNone/>
        <a:defRPr lang="en-US" sz="4000" b="1" kern="1200" dirty="0">
          <a:solidFill>
            <a:srgbClr val="00002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entury Schoolbook" panose="02040604050505020304" pitchFamily="18" charset="0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3">
              <a:lumMod val="25000"/>
            </a:schemeClr>
          </a:solidFill>
          <a:latin typeface="Georgia" panose="02040502050405020303" pitchFamily="18" charset="0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3">
              <a:lumMod val="25000"/>
            </a:schemeClr>
          </a:solidFill>
          <a:latin typeface="Georgia" panose="02040502050405020303" pitchFamily="18" charset="0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accent3">
              <a:lumMod val="25000"/>
            </a:schemeClr>
          </a:solidFill>
          <a:latin typeface="Georgia" panose="02040502050405020303" pitchFamily="18" charset="0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accent3">
              <a:lumMod val="25000"/>
            </a:schemeClr>
          </a:solidFill>
          <a:latin typeface="Georgia" panose="02040502050405020303" pitchFamily="18" charset="0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accent3">
              <a:lumMod val="25000"/>
            </a:schemeClr>
          </a:solidFill>
          <a:latin typeface="Georgia" panose="02040502050405020303" pitchFamily="18" charset="0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044701" y="4330116"/>
            <a:ext cx="6108700" cy="2299284"/>
          </a:xfrm>
        </p:spPr>
        <p:txBody>
          <a:bodyPr>
            <a:noAutofit/>
          </a:bodyPr>
          <a:lstStyle/>
          <a:p>
            <a:pPr algn="ctr"/>
            <a:r>
              <a:rPr lang="en-US" sz="1900" dirty="0"/>
              <a:t>Bianca McAlister</a:t>
            </a:r>
          </a:p>
          <a:p>
            <a:pPr algn="ctr"/>
            <a:r>
              <a:rPr lang="en-US" sz="1900" dirty="0"/>
              <a:t> Epidemiology Affinity Group</a:t>
            </a:r>
          </a:p>
          <a:p>
            <a:pPr algn="ctr"/>
            <a:r>
              <a:rPr lang="en-US" sz="1900" dirty="0"/>
              <a:t>Phase III Master’s Research</a:t>
            </a:r>
          </a:p>
          <a:p>
            <a:pPr algn="ctr"/>
            <a:r>
              <a:rPr lang="en-US" sz="1900" dirty="0"/>
              <a:t>April 24</a:t>
            </a:r>
            <a:r>
              <a:rPr lang="en-US" sz="1900" baseline="30000" dirty="0"/>
              <a:t>th</a:t>
            </a:r>
            <a:r>
              <a:rPr lang="en-US" sz="1900" dirty="0"/>
              <a:t> 2026</a:t>
            </a:r>
          </a:p>
          <a:p>
            <a:pPr algn="ctr"/>
            <a:r>
              <a:rPr lang="en-US" sz="1900" dirty="0"/>
              <a:t>Morehouse School of Medicine</a:t>
            </a:r>
          </a:p>
          <a:p>
            <a:pPr algn="ctr"/>
            <a:r>
              <a:rPr lang="en-US" sz="1900" dirty="0"/>
              <a:t>Master of Public Health Program</a:t>
            </a:r>
          </a:p>
          <a:p>
            <a:r>
              <a:rPr lang="en-US" sz="1900" dirty="0"/>
              <a:t> </a:t>
            </a:r>
          </a:p>
        </p:txBody>
      </p:sp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en-US" sz="4000" dirty="0"/>
              <a:t>Disparities in Breast and Cervical Cancer Outcomes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838200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dirty="0"/>
              <a:t>Table of Contents</a:t>
            </a:r>
          </a:p>
        </p:txBody>
      </p:sp>
      <p:graphicFrame>
        <p:nvGraphicFramePr>
          <p:cNvPr id="26628" name="Rectangle 3">
            <a:extLst>
              <a:ext uri="{FF2B5EF4-FFF2-40B4-BE49-F238E27FC236}">
                <a16:creationId xmlns:a16="http://schemas.microsoft.com/office/drawing/2014/main" id="{B17CF634-A247-C5B7-6780-18B991012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270749"/>
              </p:ext>
            </p:extLst>
          </p:nvPr>
        </p:nvGraphicFramePr>
        <p:xfrm>
          <a:off x="1714500" y="1143000"/>
          <a:ext cx="5867400" cy="5517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192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/>
              <a:t>Breast and cervical cancers remain two of the top four most common cancers affecting women globally. Despite major advances in prevention, screening, and treatment, persistent inequities continue to shape outcomes.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72578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26"/>
                </a:solidFill>
              </a:rPr>
              <a:t>Introduction 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4213EE9-AF7B-F05D-0F75-7AB7739BE4FE}"/>
              </a:ext>
            </a:extLst>
          </p:cNvPr>
          <p:cNvSpPr/>
          <p:nvPr/>
        </p:nvSpPr>
        <p:spPr>
          <a:xfrm>
            <a:off x="211183" y="3086374"/>
            <a:ext cx="3931920" cy="411480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</a:t>
            </a:r>
            <a:endParaRPr lang="en-US" dirty="0"/>
          </a:p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62DCAA-6911-CBD3-7611-25E03CD8C9F9}"/>
              </a:ext>
            </a:extLst>
          </p:cNvPr>
          <p:cNvSpPr/>
          <p:nvPr/>
        </p:nvSpPr>
        <p:spPr>
          <a:xfrm>
            <a:off x="211183" y="3497854"/>
            <a:ext cx="3931920" cy="2560320"/>
          </a:xfrm>
          <a:prstGeom prst="rect">
            <a:avLst/>
          </a:prstGeom>
          <a:solidFill>
            <a:srgbClr val="EBEBEB"/>
          </a:solidFill>
          <a:ln w="19050">
            <a:solidFill>
              <a:srgbClr val="D2CEC2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endParaRPr lang="en-US" sz="1600" b="1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7A11967F-9872-9784-4D34-4174FE2969E1}"/>
              </a:ext>
            </a:extLst>
          </p:cNvPr>
          <p:cNvSpPr/>
          <p:nvPr/>
        </p:nvSpPr>
        <p:spPr>
          <a:xfrm>
            <a:off x="348343" y="3709607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deaths/year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one of the most preventable cancers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slowly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is the most treatable.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is the primary cause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and screening remain underutilized</a:t>
            </a:r>
            <a:endParaRPr lang="en-US" sz="1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00864FA-19DE-4C32-5841-4333615027CB}"/>
              </a:ext>
            </a:extLst>
          </p:cNvPr>
          <p:cNvSpPr/>
          <p:nvPr/>
        </p:nvSpPr>
        <p:spPr>
          <a:xfrm>
            <a:off x="4354286" y="3497854"/>
            <a:ext cx="3931920" cy="2560320"/>
          </a:xfrm>
          <a:prstGeom prst="rect">
            <a:avLst/>
          </a:prstGeom>
          <a:solidFill>
            <a:srgbClr val="EBEBEB"/>
          </a:solidFill>
          <a:ln w="19050">
            <a:solidFill>
              <a:srgbClr val="D2CEC2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endParaRPr lang="en-US" sz="1600" b="1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288C926-BDC9-5CB4-72A9-D008E1DA453C}"/>
              </a:ext>
            </a:extLst>
          </p:cNvPr>
          <p:cNvSpPr/>
          <p:nvPr/>
        </p:nvSpPr>
        <p:spPr>
          <a:xfrm>
            <a:off x="4354286" y="3086374"/>
            <a:ext cx="3931920" cy="411480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08491D27-AF93-2C26-CE0E-20675291A7E6}"/>
              </a:ext>
            </a:extLst>
          </p:cNvPr>
          <p:cNvSpPr/>
          <p:nvPr/>
        </p:nvSpPr>
        <p:spPr>
          <a:xfrm>
            <a:off x="4491446" y="3709607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diagnosed cancer in women (US)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leading cause of cancer death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total annual cancer incidence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genetics, obesity, smoking, nutrition, and alcohol consumption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 are hereditary (BRCA1/2).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89E652-F37B-3F3C-CD77-04ACFAA521CD}"/>
              </a:ext>
            </a:extLst>
          </p:cNvPr>
          <p:cNvSpPr txBox="1"/>
          <p:nvPr/>
        </p:nvSpPr>
        <p:spPr>
          <a:xfrm>
            <a:off x="5334000" y="6143581"/>
            <a:ext cx="2754059" cy="6397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Breast Cancer Incidence </a:t>
            </a:r>
          </a:p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* United States: 287,000</a:t>
            </a:r>
          </a:p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* Globally: 2.3 Million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5D161-B8F2-8EEA-9DEC-B571B9FA0D48}"/>
              </a:ext>
            </a:extLst>
          </p:cNvPr>
          <p:cNvSpPr txBox="1"/>
          <p:nvPr/>
        </p:nvSpPr>
        <p:spPr>
          <a:xfrm>
            <a:off x="762000" y="6143581"/>
            <a:ext cx="2590800" cy="63976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Cervical Cancer Incidence </a:t>
            </a:r>
          </a:p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* United States: 14,000</a:t>
            </a:r>
          </a:p>
          <a:p>
            <a:pPr defTabSz="914377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1100" b="1" kern="1200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  <a:cs typeface="+mn-cs"/>
              </a:rPr>
              <a:t>* Globally: 660,000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F9D18-A844-3D81-4EF8-679A71C6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6F90381-C6D1-38DA-B2E8-E74E09D6AD1F}"/>
              </a:ext>
            </a:extLst>
          </p:cNvPr>
          <p:cNvSpPr/>
          <p:nvPr/>
        </p:nvSpPr>
        <p:spPr>
          <a:xfrm>
            <a:off x="169817" y="2354162"/>
            <a:ext cx="8412480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1E18834-6788-46FA-4294-92FCC007912F}"/>
              </a:ext>
            </a:extLst>
          </p:cNvPr>
          <p:cNvSpPr/>
          <p:nvPr/>
        </p:nvSpPr>
        <p:spPr>
          <a:xfrm>
            <a:off x="169817" y="2354162"/>
            <a:ext cx="164592" cy="868680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F96CA89-99AB-0884-41FC-29FA089FD4E2}"/>
              </a:ext>
            </a:extLst>
          </p:cNvPr>
          <p:cNvSpPr/>
          <p:nvPr/>
        </p:nvSpPr>
        <p:spPr>
          <a:xfrm>
            <a:off x="457200" y="2395729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 Prevention</a:t>
            </a:r>
            <a:endParaRPr lang="en-US" sz="13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63888A20-8CB4-00B8-A4D6-9F1EB16F1BBA}"/>
              </a:ext>
            </a:extLst>
          </p:cNvPr>
          <p:cNvSpPr/>
          <p:nvPr/>
        </p:nvSpPr>
        <p:spPr>
          <a:xfrm>
            <a:off x="457200" y="269748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vaccination, routine Pap screening and HPV testing, and safe sex practices are highly effective yet inequitably accessed.</a:t>
            </a:r>
            <a:endParaRPr lang="en-US" sz="115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1ECEB0A0-CE91-B78B-1D9F-54833CB77F9A}"/>
              </a:ext>
            </a:extLst>
          </p:cNvPr>
          <p:cNvSpPr/>
          <p:nvPr/>
        </p:nvSpPr>
        <p:spPr>
          <a:xfrm>
            <a:off x="169817" y="3405722"/>
            <a:ext cx="8412480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9EBC16D-01D8-5132-8396-D4BB1B4E4913}"/>
              </a:ext>
            </a:extLst>
          </p:cNvPr>
          <p:cNvSpPr/>
          <p:nvPr/>
        </p:nvSpPr>
        <p:spPr>
          <a:xfrm>
            <a:off x="169817" y="3405722"/>
            <a:ext cx="164592" cy="868680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6D07A48B-A71C-C15B-30E2-703B9857CC85}"/>
              </a:ext>
            </a:extLst>
          </p:cNvPr>
          <p:cNvSpPr/>
          <p:nvPr/>
        </p:nvSpPr>
        <p:spPr>
          <a:xfrm>
            <a:off x="457200" y="3447289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Prevention</a:t>
            </a:r>
            <a:endParaRPr lang="en-US" sz="13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B200F2A-C8D0-B8E0-E44D-7A6451D53272}"/>
              </a:ext>
            </a:extLst>
          </p:cNvPr>
          <p:cNvSpPr/>
          <p:nvPr/>
        </p:nvSpPr>
        <p:spPr>
          <a:xfrm>
            <a:off x="457200" y="374904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(starting age 40) and risk reduction strategies exist, but access and adherence vary significantly by race, income, and insurance.</a:t>
            </a:r>
            <a:endParaRPr lang="en-US" sz="115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85A933FF-D4E3-4083-9D83-7517F60D8F17}"/>
              </a:ext>
            </a:extLst>
          </p:cNvPr>
          <p:cNvSpPr/>
          <p:nvPr/>
        </p:nvSpPr>
        <p:spPr>
          <a:xfrm>
            <a:off x="169817" y="4457282"/>
            <a:ext cx="8412480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E3451E3-4F25-9B26-2793-130BBE11DF73}"/>
              </a:ext>
            </a:extLst>
          </p:cNvPr>
          <p:cNvSpPr/>
          <p:nvPr/>
        </p:nvSpPr>
        <p:spPr>
          <a:xfrm>
            <a:off x="169817" y="4457282"/>
            <a:ext cx="164592" cy="868680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8ECC44D-8578-1C10-85FD-78C69BD3EFA4}"/>
              </a:ext>
            </a:extLst>
          </p:cNvPr>
          <p:cNvSpPr/>
          <p:nvPr/>
        </p:nvSpPr>
        <p:spPr>
          <a:xfrm>
            <a:off x="457200" y="4498849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Equity Gap</a:t>
            </a:r>
            <a:endParaRPr lang="en-US" sz="13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5606C624-F2BB-6D02-C082-534FB6D5D255}"/>
              </a:ext>
            </a:extLst>
          </p:cNvPr>
          <p:cNvSpPr/>
          <p:nvPr/>
        </p:nvSpPr>
        <p:spPr>
          <a:xfrm>
            <a:off x="457200" y="480060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Socioeconomic, racial/ethnic, and geographic factors shape who benefits from these tools. This research examines national BRFSS data to quantify these disparities.</a:t>
            </a:r>
            <a:endParaRPr lang="en-US" sz="11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E54136E-A9FF-488C-2D5A-F484E230E63F}"/>
              </a:ext>
            </a:extLst>
          </p:cNvPr>
          <p:cNvSpPr/>
          <p:nvPr/>
        </p:nvSpPr>
        <p:spPr>
          <a:xfrm>
            <a:off x="359228" y="16192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tools exist — yet disparities persist.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6702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">
            <a:extLst>
              <a:ext uri="{FF2B5EF4-FFF2-40B4-BE49-F238E27FC236}">
                <a16:creationId xmlns:a16="http://schemas.microsoft.com/office/drawing/2014/main" id="{35F24B6B-6F05-4DDD-91CB-3F7CC5C1AB44}"/>
              </a:ext>
            </a:extLst>
          </p:cNvPr>
          <p:cNvSpPr txBox="1"/>
          <p:nvPr/>
        </p:nvSpPr>
        <p:spPr>
          <a:xfrm>
            <a:off x="-293507" y="1927157"/>
            <a:ext cx="9446675" cy="31596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aphicFrame>
        <p:nvGraphicFramePr>
          <p:cNvPr id="12" name="TextBox 34">
            <a:extLst>
              <a:ext uri="{FF2B5EF4-FFF2-40B4-BE49-F238E27FC236}">
                <a16:creationId xmlns:a16="http://schemas.microsoft.com/office/drawing/2014/main" id="{E4A79484-19E4-CB8F-E389-28606A6CEC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7339171"/>
              </p:ext>
            </p:extLst>
          </p:nvPr>
        </p:nvGraphicFramePr>
        <p:xfrm>
          <a:off x="350979" y="1544851"/>
          <a:ext cx="3810000" cy="4365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D6750A7B-D0AE-27FC-E44D-8B31E1785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968" y="302622"/>
            <a:ext cx="8839200" cy="7257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dirty="0">
                <a:solidFill>
                  <a:srgbClr val="000026"/>
                </a:solidFill>
              </a:rPr>
              <a:t>Methods</a:t>
            </a:r>
            <a:endParaRPr lang="en-US" dirty="0">
              <a:solidFill>
                <a:srgbClr val="000026"/>
              </a:solidFill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79C016C1-A835-D99B-883B-76FDD525F7EF}"/>
              </a:ext>
            </a:extLst>
          </p:cNvPr>
          <p:cNvSpPr/>
          <p:nvPr/>
        </p:nvSpPr>
        <p:spPr>
          <a:xfrm>
            <a:off x="4397173" y="1807389"/>
            <a:ext cx="4023360" cy="3840480"/>
          </a:xfrm>
          <a:prstGeom prst="rect">
            <a:avLst/>
          </a:prstGeom>
          <a:solidFill>
            <a:srgbClr val="EBEBEB"/>
          </a:solidFill>
          <a:ln w="190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7B0B1E2F-6F95-B9C5-6900-E55730BBFE60}"/>
              </a:ext>
            </a:extLst>
          </p:cNvPr>
          <p:cNvSpPr/>
          <p:nvPr/>
        </p:nvSpPr>
        <p:spPr>
          <a:xfrm>
            <a:off x="4397173" y="1807389"/>
            <a:ext cx="4023360" cy="384048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F22A14A-B41A-7A48-2A01-56FF798801DE}"/>
              </a:ext>
            </a:extLst>
          </p:cNvPr>
          <p:cNvSpPr/>
          <p:nvPr/>
        </p:nvSpPr>
        <p:spPr>
          <a:xfrm>
            <a:off x="4397173" y="1807389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Sample &amp; Variables</a:t>
            </a:r>
            <a:endParaRPr lang="en-US" sz="13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A0203250-1C90-4FFC-5296-B6D149316F78}"/>
              </a:ext>
            </a:extLst>
          </p:cNvPr>
          <p:cNvSpPr/>
          <p:nvPr/>
        </p:nvSpPr>
        <p:spPr>
          <a:xfrm>
            <a:off x="4580053" y="2264589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Screening: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aged 50–74 years
</a:t>
            </a: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 Screening: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aged 21–65 years 
</a:t>
            </a: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mammography (within 2 yrs); Up-to-date Pap test (within 3 yrs)
</a:t>
            </a:r>
            <a:r>
              <a:rPr lang="en-US" sz="11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checkup, personal doctor, insurance status, cost barriers, race/ethnicity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7435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F408-B016-DB3D-5FEA-2127A0BD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756E8CC-4885-65F6-AE7C-72799C0E93D5}"/>
              </a:ext>
            </a:extLst>
          </p:cNvPr>
          <p:cNvSpPr txBox="1"/>
          <p:nvPr/>
        </p:nvSpPr>
        <p:spPr>
          <a:xfrm>
            <a:off x="457200" y="1600201"/>
            <a:ext cx="7620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377" eaLnBrk="1" hangingPunct="1">
              <a:spcBef>
                <a:spcPct val="20000"/>
              </a:spcBef>
            </a:pPr>
            <a:r>
              <a:rPr lang="en-US" b="1" dirty="0">
                <a:solidFill>
                  <a:schemeClr val="accent3">
                    <a:lumMod val="25000"/>
                  </a:schemeClr>
                </a:solidFill>
                <a:latin typeface="Georgia" panose="02040502050405020303" pitchFamily="18" charset="0"/>
                <a:ea typeface="+mn-ea"/>
              </a:rPr>
              <a:t>Research Question: 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Georgia" panose="02040502050405020303" pitchFamily="18" charset="0"/>
              <a:ea typeface="+mn-ea"/>
            </a:endParaRPr>
          </a:p>
          <a:p>
            <a:pPr marL="342891" indent="-342891" defTabSz="914377" eaLnBrk="1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Georgia" panose="02040502050405020303" pitchFamily="18" charset="0"/>
                <a:ea typeface="+mn-ea"/>
              </a:rPr>
              <a:t>Among age-eligible women in BRFSS 2024, what healthcare access, demographic and socioeconomic factors are associated with being up to date on breast and cervical cancer screening?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CD1B818-7587-1D96-8B54-4BC769F71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968" y="197997"/>
            <a:ext cx="8839200" cy="72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  <a:ea typeface="+mj-ea"/>
                <a:cs typeface="+mj-cs"/>
              </a:rPr>
              <a:t>Methods – Research Question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C6C103A-06A1-7DA6-86A6-5B059EC7F49B}"/>
              </a:ext>
            </a:extLst>
          </p:cNvPr>
          <p:cNvSpPr txBox="1"/>
          <p:nvPr/>
        </p:nvSpPr>
        <p:spPr>
          <a:xfrm>
            <a:off x="533400" y="2678873"/>
            <a:ext cx="9446675" cy="31596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BCAE448-0097-5DBB-CE8E-49A060DA8B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9642402"/>
              </p:ext>
            </p:extLst>
          </p:nvPr>
        </p:nvGraphicFramePr>
        <p:xfrm>
          <a:off x="2077571" y="3733800"/>
          <a:ext cx="4988858" cy="267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031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ED89F3-D28A-5F69-4758-72316BA18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F8BAEC-7539-E8A3-4DBC-7A61A099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B1A04-BB27-05E8-68E6-8AD07A2926EE}"/>
              </a:ext>
            </a:extLst>
          </p:cNvPr>
          <p:cNvSpPr txBox="1"/>
          <p:nvPr/>
        </p:nvSpPr>
        <p:spPr>
          <a:xfrm>
            <a:off x="174307" y="1381095"/>
            <a:ext cx="85582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analyses accounted for the BRFSS complex survey design using primary sampling units (PSU), state-level stratification, and final sampling weights.</a:t>
            </a:r>
            <a:endParaRPr lang="en-US" sz="20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E19F2A54-A0E2-D1E6-D56A-05C39E9F140D}"/>
              </a:ext>
            </a:extLst>
          </p:cNvPr>
          <p:cNvSpPr/>
          <p:nvPr/>
        </p:nvSpPr>
        <p:spPr>
          <a:xfrm>
            <a:off x="137160" y="2668292"/>
            <a:ext cx="4160520" cy="137160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E54D5EDC-DD38-13EA-BA03-8855BB18589E}"/>
              </a:ext>
            </a:extLst>
          </p:cNvPr>
          <p:cNvSpPr/>
          <p:nvPr/>
        </p:nvSpPr>
        <p:spPr>
          <a:xfrm>
            <a:off x="246888" y="2778020"/>
            <a:ext cx="502920" cy="502920"/>
          </a:xfrm>
          <a:prstGeom prst="ellipse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94E6ECF-4D88-FBA9-4B1D-DF1D7BF8EBC2}"/>
              </a:ext>
            </a:extLst>
          </p:cNvPr>
          <p:cNvSpPr/>
          <p:nvPr/>
        </p:nvSpPr>
        <p:spPr>
          <a:xfrm>
            <a:off x="246888" y="27780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9B923A2-D489-E90D-32A1-EFACC406CFC7}"/>
              </a:ext>
            </a:extLst>
          </p:cNvPr>
          <p:cNvSpPr/>
          <p:nvPr/>
        </p:nvSpPr>
        <p:spPr>
          <a:xfrm>
            <a:off x="868680" y="27597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Survey-Weighted GLM</a:t>
            </a:r>
            <a:endParaRPr lang="en-US" sz="13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252F192-A99A-9A20-BA7C-A48CFE8C11FE}"/>
              </a:ext>
            </a:extLst>
          </p:cNvPr>
          <p:cNvSpPr/>
          <p:nvPr/>
        </p:nvSpPr>
        <p:spPr>
          <a:xfrm>
            <a:off x="274320" y="317121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with binomial distribution accounted for the complex BRFSS design (PSU, strata, weights).</a:t>
            </a:r>
            <a:endParaRPr lang="en-US" sz="11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9DB9380F-3A7F-3D7B-48E4-72EFB02DC14F}"/>
              </a:ext>
            </a:extLst>
          </p:cNvPr>
          <p:cNvSpPr/>
          <p:nvPr/>
        </p:nvSpPr>
        <p:spPr>
          <a:xfrm>
            <a:off x="4426267" y="2683357"/>
            <a:ext cx="4160520" cy="137160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6C56F0ED-CADC-956D-D8DC-FFE99AC8D549}"/>
              </a:ext>
            </a:extLst>
          </p:cNvPr>
          <p:cNvSpPr/>
          <p:nvPr/>
        </p:nvSpPr>
        <p:spPr>
          <a:xfrm>
            <a:off x="4681728" y="2778020"/>
            <a:ext cx="502920" cy="502920"/>
          </a:xfrm>
          <a:prstGeom prst="ellipse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7400595B-D707-E556-7574-F1BD4909EB50}"/>
              </a:ext>
            </a:extLst>
          </p:cNvPr>
          <p:cNvSpPr/>
          <p:nvPr/>
        </p:nvSpPr>
        <p:spPr>
          <a:xfrm>
            <a:off x="4681728" y="27780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E8EE66D-7C94-773D-1964-3B980E82DBF0}"/>
              </a:ext>
            </a:extLst>
          </p:cNvPr>
          <p:cNvSpPr/>
          <p:nvPr/>
        </p:nvSpPr>
        <p:spPr>
          <a:xfrm>
            <a:off x="5303520" y="27597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Results </a:t>
            </a:r>
            <a:endParaRPr lang="en-US" sz="13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B0D59557-B75D-A20E-FDF2-8A4BE0188359}"/>
              </a:ext>
            </a:extLst>
          </p:cNvPr>
          <p:cNvSpPr/>
          <p:nvPr/>
        </p:nvSpPr>
        <p:spPr>
          <a:xfrm>
            <a:off x="4709160" y="317121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log-odds (</a:t>
            </a:r>
            <a:r>
              <a:rPr lang="el-GR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coefficients)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odds ratios (ORs) for interpretation</a:t>
            </a:r>
            <a:endParaRPr lang="en-US" sz="11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B9970BC1-3C23-473F-FAAF-8ED7AE53A31B}"/>
              </a:ext>
            </a:extLst>
          </p:cNvPr>
          <p:cNvSpPr/>
          <p:nvPr/>
        </p:nvSpPr>
        <p:spPr>
          <a:xfrm>
            <a:off x="137160" y="4222772"/>
            <a:ext cx="4160520" cy="137160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A13AAD9C-95D7-25AB-FA7B-798CC6E0BD5A}"/>
              </a:ext>
            </a:extLst>
          </p:cNvPr>
          <p:cNvSpPr/>
          <p:nvPr/>
        </p:nvSpPr>
        <p:spPr>
          <a:xfrm>
            <a:off x="246888" y="4332500"/>
            <a:ext cx="502920" cy="502920"/>
          </a:xfrm>
          <a:prstGeom prst="ellipse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05A8671-4F7F-A23B-9527-1BD8971A31E7}"/>
              </a:ext>
            </a:extLst>
          </p:cNvPr>
          <p:cNvSpPr/>
          <p:nvPr/>
        </p:nvSpPr>
        <p:spPr>
          <a:xfrm>
            <a:off x="246888" y="4332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7A6B68B-4217-872A-826B-A60BA0702C48}"/>
              </a:ext>
            </a:extLst>
          </p:cNvPr>
          <p:cNvSpPr/>
          <p:nvPr/>
        </p:nvSpPr>
        <p:spPr>
          <a:xfrm>
            <a:off x="868680" y="43142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Survey Weights Matter</a:t>
            </a:r>
            <a:endParaRPr lang="en-US" sz="13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693E0399-21E6-D333-F1E3-1489047C6917}"/>
              </a:ext>
            </a:extLst>
          </p:cNvPr>
          <p:cNvSpPr/>
          <p:nvPr/>
        </p:nvSpPr>
        <p:spPr>
          <a:xfrm>
            <a:off x="274320" y="47256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does not use simple random sampling. Weights adjust for unequal selection probability, non-response bias, and demographic alignment with known population totals.</a:t>
            </a:r>
            <a:endParaRPr lang="en-US" sz="110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937E104D-BCFB-F283-A025-E3C9F2652370}"/>
              </a:ext>
            </a:extLst>
          </p:cNvPr>
          <p:cNvSpPr/>
          <p:nvPr/>
        </p:nvSpPr>
        <p:spPr>
          <a:xfrm>
            <a:off x="4453413" y="4207182"/>
            <a:ext cx="4160520" cy="1371600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F1AF626A-66A2-5AB8-46F3-EF73D75BC657}"/>
              </a:ext>
            </a:extLst>
          </p:cNvPr>
          <p:cNvSpPr/>
          <p:nvPr/>
        </p:nvSpPr>
        <p:spPr>
          <a:xfrm>
            <a:off x="4681728" y="4332500"/>
            <a:ext cx="502920" cy="502920"/>
          </a:xfrm>
          <a:prstGeom prst="ellipse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C0D998C2-61BF-FCAC-3E43-C119A29FC8C1}"/>
              </a:ext>
            </a:extLst>
          </p:cNvPr>
          <p:cNvSpPr/>
          <p:nvPr/>
        </p:nvSpPr>
        <p:spPr>
          <a:xfrm>
            <a:off x="4681728" y="4332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281D66AF-F3F1-1F1F-5D6D-F2FD8191369A}"/>
              </a:ext>
            </a:extLst>
          </p:cNvPr>
          <p:cNvSpPr/>
          <p:nvPr/>
        </p:nvSpPr>
        <p:spPr>
          <a:xfrm>
            <a:off x="5303520" y="43142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 Adjusted</a:t>
            </a:r>
            <a:endParaRPr lang="en-US" sz="13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67851653-2FC3-8C49-DD4F-9EA4F6563298}"/>
              </a:ext>
            </a:extLst>
          </p:cNvPr>
          <p:cNvSpPr/>
          <p:nvPr/>
        </p:nvSpPr>
        <p:spPr>
          <a:xfrm>
            <a:off x="4709160" y="47256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race/ethnicity, insurance status, having a personal doctor, recent checkup, and cost-related barriers to care.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6785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000026"/>
                </a:solidFill>
              </a:rPr>
              <a:t>Results 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BF91185-82D9-DB5B-5033-BF53153BE9F8}"/>
              </a:ext>
            </a:extLst>
          </p:cNvPr>
          <p:cNvSpPr/>
          <p:nvPr/>
        </p:nvSpPr>
        <p:spPr>
          <a:xfrm>
            <a:off x="76200" y="1600200"/>
            <a:ext cx="3200400" cy="457200"/>
          </a:xfrm>
          <a:prstGeom prst="rect">
            <a:avLst/>
          </a:prstGeom>
          <a:solidFill>
            <a:srgbClr val="0000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852694D-129E-D298-39A1-D066A6E8C9C6}"/>
              </a:ext>
            </a:extLst>
          </p:cNvPr>
          <p:cNvSpPr/>
          <p:nvPr/>
        </p:nvSpPr>
        <p:spPr>
          <a:xfrm>
            <a:off x="762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4FB2D3E-F138-A27D-C6A2-91412B09DC45}"/>
              </a:ext>
            </a:extLst>
          </p:cNvPr>
          <p:cNvSpPr/>
          <p:nvPr/>
        </p:nvSpPr>
        <p:spPr>
          <a:xfrm>
            <a:off x="2876122" y="1600200"/>
            <a:ext cx="2984821" cy="457200"/>
          </a:xfrm>
          <a:prstGeom prst="rect">
            <a:avLst/>
          </a:prstGeom>
          <a:solidFill>
            <a:srgbClr val="0000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78C3F14-BB16-24B1-25B0-A162500FABBF}"/>
              </a:ext>
            </a:extLst>
          </p:cNvPr>
          <p:cNvSpPr/>
          <p:nvPr/>
        </p:nvSpPr>
        <p:spPr>
          <a:xfrm>
            <a:off x="2876122" y="1600200"/>
            <a:ext cx="29848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(β; OR)</a:t>
            </a:r>
            <a:endParaRPr lang="en-US" sz="12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658E69D-B7E9-05B0-C0B8-38EB50DC4365}"/>
              </a:ext>
            </a:extLst>
          </p:cNvPr>
          <p:cNvSpPr/>
          <p:nvPr/>
        </p:nvSpPr>
        <p:spPr>
          <a:xfrm>
            <a:off x="5860943" y="1600200"/>
            <a:ext cx="2834640" cy="457200"/>
          </a:xfrm>
          <a:prstGeom prst="rect">
            <a:avLst/>
          </a:prstGeom>
          <a:solidFill>
            <a:srgbClr val="0000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32571F4-8F5A-BC7B-30CC-849282A01819}"/>
              </a:ext>
            </a:extLst>
          </p:cNvPr>
          <p:cNvSpPr/>
          <p:nvPr/>
        </p:nvSpPr>
        <p:spPr>
          <a:xfrm>
            <a:off x="5860943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Screening (β; OR)</a:t>
            </a:r>
            <a:endParaRPr lang="en-US" sz="12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CFEC789-49A3-84AE-8559-3AECF5B2113F}"/>
              </a:ext>
            </a:extLst>
          </p:cNvPr>
          <p:cNvSpPr/>
          <p:nvPr/>
        </p:nvSpPr>
        <p:spPr>
          <a:xfrm>
            <a:off x="76200" y="2057400"/>
            <a:ext cx="3200400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B42B587-06C5-E0CE-98A8-C57A08E6C76D}"/>
              </a:ext>
            </a:extLst>
          </p:cNvPr>
          <p:cNvSpPr/>
          <p:nvPr/>
        </p:nvSpPr>
        <p:spPr>
          <a:xfrm>
            <a:off x="149352" y="205740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Routine Checkup</a:t>
            </a:r>
            <a:endParaRPr lang="en-US" sz="12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6184CFB1-D45B-9FFA-916D-03EF102C0916}"/>
              </a:ext>
            </a:extLst>
          </p:cNvPr>
          <p:cNvSpPr/>
          <p:nvPr/>
        </p:nvSpPr>
        <p:spPr>
          <a:xfrm>
            <a:off x="2876122" y="2057400"/>
            <a:ext cx="2984821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11CBBB6-2F51-4749-6F9C-4DC2163E497E}"/>
              </a:ext>
            </a:extLst>
          </p:cNvPr>
          <p:cNvSpPr/>
          <p:nvPr/>
        </p:nvSpPr>
        <p:spPr>
          <a:xfrm>
            <a:off x="2959609" y="2057400"/>
            <a:ext cx="29077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1.47; OR = 4.34</a:t>
            </a:r>
            <a:endParaRPr lang="en-US" sz="13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3213211C-DFBE-0CBD-E821-C8B071D1DB33}"/>
              </a:ext>
            </a:extLst>
          </p:cNvPr>
          <p:cNvSpPr/>
          <p:nvPr/>
        </p:nvSpPr>
        <p:spPr>
          <a:xfrm>
            <a:off x="5860943" y="2057400"/>
            <a:ext cx="2834640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2D93D55-7409-A30C-9C13-9965C5DE8F2A}"/>
              </a:ext>
            </a:extLst>
          </p:cNvPr>
          <p:cNvSpPr/>
          <p:nvPr/>
        </p:nvSpPr>
        <p:spPr>
          <a:xfrm>
            <a:off x="5934095" y="2057400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0.78; OR = 2.19</a:t>
            </a:r>
            <a:endParaRPr lang="en-US" sz="13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877B30E1-5CE8-611F-153B-2B42D9CB535C}"/>
              </a:ext>
            </a:extLst>
          </p:cNvPr>
          <p:cNvSpPr/>
          <p:nvPr/>
        </p:nvSpPr>
        <p:spPr>
          <a:xfrm>
            <a:off x="76200" y="2587752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03B18EC-DDFE-B756-A04E-48586358A100}"/>
              </a:ext>
            </a:extLst>
          </p:cNvPr>
          <p:cNvSpPr/>
          <p:nvPr/>
        </p:nvSpPr>
        <p:spPr>
          <a:xfrm>
            <a:off x="149352" y="2587752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Healthcare Provider</a:t>
            </a:r>
            <a:endParaRPr lang="en-US" sz="12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15EC2A37-FFAE-FE45-753B-45CDC2784CCA}"/>
              </a:ext>
            </a:extLst>
          </p:cNvPr>
          <p:cNvSpPr/>
          <p:nvPr/>
        </p:nvSpPr>
        <p:spPr>
          <a:xfrm>
            <a:off x="2876122" y="2587752"/>
            <a:ext cx="2984821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ADC07F31-8EFF-B5BB-D8DE-66406A7AAE2C}"/>
              </a:ext>
            </a:extLst>
          </p:cNvPr>
          <p:cNvSpPr/>
          <p:nvPr/>
        </p:nvSpPr>
        <p:spPr>
          <a:xfrm>
            <a:off x="2959609" y="2587752"/>
            <a:ext cx="29077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0.86; OR = 2.37</a:t>
            </a:r>
            <a:endParaRPr lang="en-US" sz="13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A802D2B-7156-43E1-20C0-12F0E9FB1D1C}"/>
              </a:ext>
            </a:extLst>
          </p:cNvPr>
          <p:cNvSpPr/>
          <p:nvPr/>
        </p:nvSpPr>
        <p:spPr>
          <a:xfrm>
            <a:off x="5860943" y="2587752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02EB751-83B4-5F99-52D9-9D18E5564C6D}"/>
              </a:ext>
            </a:extLst>
          </p:cNvPr>
          <p:cNvSpPr/>
          <p:nvPr/>
        </p:nvSpPr>
        <p:spPr>
          <a:xfrm>
            <a:off x="5934095" y="2587752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0.75; OR = 2.12</a:t>
            </a:r>
            <a:endParaRPr lang="en-US" sz="13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63C6B1F7-BF92-BCF5-A85E-F02E46994525}"/>
              </a:ext>
            </a:extLst>
          </p:cNvPr>
          <p:cNvSpPr/>
          <p:nvPr/>
        </p:nvSpPr>
        <p:spPr>
          <a:xfrm>
            <a:off x="76200" y="3118104"/>
            <a:ext cx="3200400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B00D0147-7FDE-2BF7-AAF3-EDD71F767B55}"/>
              </a:ext>
            </a:extLst>
          </p:cNvPr>
          <p:cNvSpPr/>
          <p:nvPr/>
        </p:nvSpPr>
        <p:spPr>
          <a:xfrm>
            <a:off x="149352" y="3118104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w/ Personal Provider</a:t>
            </a:r>
            <a:endParaRPr lang="en-US" sz="120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5C3BC9DC-D895-A1E7-DDD2-A23EAFC03E53}"/>
              </a:ext>
            </a:extLst>
          </p:cNvPr>
          <p:cNvSpPr/>
          <p:nvPr/>
        </p:nvSpPr>
        <p:spPr>
          <a:xfrm>
            <a:off x="2876122" y="3118104"/>
            <a:ext cx="2984821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201D58C-A4DB-A394-D3AD-B1F6F6D2BA39}"/>
              </a:ext>
            </a:extLst>
          </p:cNvPr>
          <p:cNvSpPr/>
          <p:nvPr/>
        </p:nvSpPr>
        <p:spPr>
          <a:xfrm>
            <a:off x="2959609" y="3118104"/>
            <a:ext cx="29077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≈ 2.26</a:t>
            </a:r>
            <a:endParaRPr lang="en-US" sz="130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0DD0518B-971E-0706-B7CA-CB86769F8075}"/>
              </a:ext>
            </a:extLst>
          </p:cNvPr>
          <p:cNvSpPr/>
          <p:nvPr/>
        </p:nvSpPr>
        <p:spPr>
          <a:xfrm>
            <a:off x="5860943" y="3118104"/>
            <a:ext cx="2834640" cy="530352"/>
          </a:xfrm>
          <a:prstGeom prst="rect">
            <a:avLst/>
          </a:prstGeom>
          <a:solidFill>
            <a:srgbClr val="EBEBEB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90063990-149B-9450-5686-F9AA4D32B9FD}"/>
              </a:ext>
            </a:extLst>
          </p:cNvPr>
          <p:cNvSpPr/>
          <p:nvPr/>
        </p:nvSpPr>
        <p:spPr>
          <a:xfrm>
            <a:off x="5934095" y="3118104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≈ 1.99</a:t>
            </a:r>
            <a:endParaRPr lang="en-US" sz="13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0D7F87E4-E193-B9C9-BA41-A7A699596375}"/>
              </a:ext>
            </a:extLst>
          </p:cNvPr>
          <p:cNvSpPr/>
          <p:nvPr/>
        </p:nvSpPr>
        <p:spPr>
          <a:xfrm>
            <a:off x="76200" y="3648456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C5E109B7-D154-DE11-F6CE-68D0543784A8}"/>
              </a:ext>
            </a:extLst>
          </p:cNvPr>
          <p:cNvSpPr/>
          <p:nvPr/>
        </p:nvSpPr>
        <p:spPr>
          <a:xfrm>
            <a:off x="149352" y="3648456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w/ Personal Provider</a:t>
            </a:r>
            <a:endParaRPr lang="en-US" sz="1200" dirty="0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0632E33F-0533-1D2C-FCCD-681607EF28CC}"/>
              </a:ext>
            </a:extLst>
          </p:cNvPr>
          <p:cNvSpPr/>
          <p:nvPr/>
        </p:nvSpPr>
        <p:spPr>
          <a:xfrm>
            <a:off x="2876122" y="3648456"/>
            <a:ext cx="2984821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1A857B36-C9AD-82AA-3CFD-DBAF992602A6}"/>
              </a:ext>
            </a:extLst>
          </p:cNvPr>
          <p:cNvSpPr/>
          <p:nvPr/>
        </p:nvSpPr>
        <p:spPr>
          <a:xfrm>
            <a:off x="2959609" y="3648456"/>
            <a:ext cx="290779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≈ 1.56</a:t>
            </a:r>
            <a:endParaRPr lang="en-US" sz="1300" dirty="0"/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60A88B18-4EC2-F675-4FDB-007686C9F4A3}"/>
              </a:ext>
            </a:extLst>
          </p:cNvPr>
          <p:cNvSpPr/>
          <p:nvPr/>
        </p:nvSpPr>
        <p:spPr>
          <a:xfrm>
            <a:off x="5860943" y="3648456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933463DB-AEBD-E594-7E48-9621404AD2B1}"/>
              </a:ext>
            </a:extLst>
          </p:cNvPr>
          <p:cNvSpPr/>
          <p:nvPr/>
        </p:nvSpPr>
        <p:spPr>
          <a:xfrm>
            <a:off x="5934095" y="3648456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≈ 1.53</a:t>
            </a:r>
            <a:endParaRPr lang="en-US" sz="1300" dirty="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56B9793B-B81B-21FE-2D64-AFD182B58E6B}"/>
              </a:ext>
            </a:extLst>
          </p:cNvPr>
          <p:cNvSpPr/>
          <p:nvPr/>
        </p:nvSpPr>
        <p:spPr>
          <a:xfrm>
            <a:off x="149352" y="4619511"/>
            <a:ext cx="3504815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</a:p>
          <a:p>
            <a:pPr marL="0" indent="0">
              <a:buNone/>
            </a:pPr>
            <a:endParaRPr lang="en-US" sz="12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a recent routine checkup had over 4× the odds of being up-to-date on mammography. Both recent visits and continuity of care independently predicted adherence. The protective effect of having a personal provider was stronger among insured women.</a:t>
            </a:r>
            <a:endParaRPr lang="en-US" sz="1200" dirty="0"/>
          </a:p>
        </p:txBody>
      </p:sp>
      <p:pic>
        <p:nvPicPr>
          <p:cNvPr id="34" name="Content Placeholder 4">
            <a:extLst>
              <a:ext uri="{FF2B5EF4-FFF2-40B4-BE49-F238E27FC236}">
                <a16:creationId xmlns:a16="http://schemas.microsoft.com/office/drawing/2014/main" id="{0D5A0767-BCD2-6C66-8F13-4B46C6264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77441" b="-1612"/>
          <a:stretch>
            <a:fillRect/>
          </a:stretch>
        </p:blipFill>
        <p:spPr>
          <a:xfrm>
            <a:off x="3733800" y="4498673"/>
            <a:ext cx="4562949" cy="23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B1691C-16D4-9085-1520-9B0255D6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4A5D6B2-8381-95F6-05EB-40AB5023D113}"/>
              </a:ext>
            </a:extLst>
          </p:cNvPr>
          <p:cNvSpPr/>
          <p:nvPr/>
        </p:nvSpPr>
        <p:spPr>
          <a:xfrm>
            <a:off x="40005" y="1740408"/>
            <a:ext cx="8321040" cy="1378982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98DBEAA-0A8E-5734-DE57-F1D13FE59C1F}"/>
              </a:ext>
            </a:extLst>
          </p:cNvPr>
          <p:cNvSpPr/>
          <p:nvPr/>
        </p:nvSpPr>
        <p:spPr>
          <a:xfrm>
            <a:off x="40004" y="1740408"/>
            <a:ext cx="171907" cy="1378982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F8927CE-3AB9-85C9-CE47-BCA946D76E20}"/>
              </a:ext>
            </a:extLst>
          </p:cNvPr>
          <p:cNvSpPr/>
          <p:nvPr/>
        </p:nvSpPr>
        <p:spPr>
          <a:xfrm>
            <a:off x="314325" y="1786127"/>
            <a:ext cx="8595360" cy="46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Checkups Are Critical Access Points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275F76B-75F1-C8D2-5BA7-4AE987A65880}"/>
              </a:ext>
            </a:extLst>
          </p:cNvPr>
          <p:cNvSpPr/>
          <p:nvPr/>
        </p:nvSpPr>
        <p:spPr>
          <a:xfrm>
            <a:off x="314325" y="2087880"/>
            <a:ext cx="8149134" cy="7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a recent routine visit had over 4× the odds of being up-to-date on mammography. Routine visits serve as the primary gateway for cancer screening referrals.</a:t>
            </a:r>
            <a:endParaRPr lang="en-US" sz="115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6179BF6-B430-E97D-722F-C2DA9AE525E9}"/>
              </a:ext>
            </a:extLst>
          </p:cNvPr>
          <p:cNvSpPr/>
          <p:nvPr/>
        </p:nvSpPr>
        <p:spPr>
          <a:xfrm>
            <a:off x="40005" y="2746248"/>
            <a:ext cx="8321040" cy="1378982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D74499A-769D-855D-B5BE-1F2BF0B8C161}"/>
              </a:ext>
            </a:extLst>
          </p:cNvPr>
          <p:cNvSpPr/>
          <p:nvPr/>
        </p:nvSpPr>
        <p:spPr>
          <a:xfrm>
            <a:off x="40004" y="2746248"/>
            <a:ext cx="171907" cy="1378982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8AA04F0-9852-009F-D6F5-B8356EA925BD}"/>
              </a:ext>
            </a:extLst>
          </p:cNvPr>
          <p:cNvSpPr/>
          <p:nvPr/>
        </p:nvSpPr>
        <p:spPr>
          <a:xfrm>
            <a:off x="314325" y="2791967"/>
            <a:ext cx="8595360" cy="46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of Care Independently Matters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13AE7EB-B38A-9F86-1EBF-6027F490148D}"/>
              </a:ext>
            </a:extLst>
          </p:cNvPr>
          <p:cNvSpPr/>
          <p:nvPr/>
        </p:nvSpPr>
        <p:spPr>
          <a:xfrm>
            <a:off x="314325" y="3093720"/>
            <a:ext cx="8046720" cy="7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personal healthcare provider was associated with higher screening odds even after adjusting for recent visits, reinforcing the role of ongoing patient-provider relationships.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344E5CE-DF44-68E5-EAA7-40AE7399EC89}"/>
              </a:ext>
            </a:extLst>
          </p:cNvPr>
          <p:cNvSpPr/>
          <p:nvPr/>
        </p:nvSpPr>
        <p:spPr>
          <a:xfrm>
            <a:off x="40005" y="3752088"/>
            <a:ext cx="8321040" cy="1378982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338C156-3DED-2EA1-4F34-EBA9103B3DF7}"/>
              </a:ext>
            </a:extLst>
          </p:cNvPr>
          <p:cNvSpPr/>
          <p:nvPr/>
        </p:nvSpPr>
        <p:spPr>
          <a:xfrm>
            <a:off x="40004" y="3752088"/>
            <a:ext cx="171907" cy="1378982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09DC65B5-3365-E43C-9BEE-6DE4B761158C}"/>
              </a:ext>
            </a:extLst>
          </p:cNvPr>
          <p:cNvSpPr/>
          <p:nvPr/>
        </p:nvSpPr>
        <p:spPr>
          <a:xfrm>
            <a:off x="314325" y="3797807"/>
            <a:ext cx="8595360" cy="46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Barriers Persist Beyond Insurance</a:t>
            </a:r>
            <a:endParaRPr lang="en-US" sz="13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C02AF07-03B4-665B-92A0-352004512827}"/>
              </a:ext>
            </a:extLst>
          </p:cNvPr>
          <p:cNvSpPr/>
          <p:nvPr/>
        </p:nvSpPr>
        <p:spPr>
          <a:xfrm>
            <a:off x="314325" y="4099560"/>
            <a:ext cx="8046720" cy="7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Cost-related barriers reduced adherence independent of insurance status, suggesting that coverage alone does not eliminate financial obstacles to preventive care.</a:t>
            </a:r>
            <a:endParaRPr lang="en-US" sz="115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3BE941E-48E4-4437-59E0-02CA47A39F73}"/>
              </a:ext>
            </a:extLst>
          </p:cNvPr>
          <p:cNvSpPr/>
          <p:nvPr/>
        </p:nvSpPr>
        <p:spPr>
          <a:xfrm>
            <a:off x="40005" y="4757928"/>
            <a:ext cx="8321040" cy="1073252"/>
          </a:xfrm>
          <a:prstGeom prst="rect">
            <a:avLst/>
          </a:prstGeom>
          <a:solidFill>
            <a:srgbClr val="EBEBEB"/>
          </a:solidFill>
          <a:ln w="12700">
            <a:solidFill>
              <a:srgbClr val="D2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33F6046-7666-109B-4B79-C5DCE4C69C31}"/>
              </a:ext>
            </a:extLst>
          </p:cNvPr>
          <p:cNvSpPr/>
          <p:nvPr/>
        </p:nvSpPr>
        <p:spPr>
          <a:xfrm>
            <a:off x="40004" y="4757928"/>
            <a:ext cx="171907" cy="1073252"/>
          </a:xfrm>
          <a:prstGeom prst="rect">
            <a:avLst/>
          </a:prstGeom>
          <a:solidFill>
            <a:srgbClr val="000026"/>
          </a:solidFill>
          <a:ln w="12700">
            <a:solidFill>
              <a:srgbClr val="0000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A55EB8D9-2E05-C6E4-977D-3500B3DDE2FD}"/>
              </a:ext>
            </a:extLst>
          </p:cNvPr>
          <p:cNvSpPr/>
          <p:nvPr/>
        </p:nvSpPr>
        <p:spPr>
          <a:xfrm>
            <a:off x="314325" y="4803647"/>
            <a:ext cx="8595360" cy="46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Factors Drive Persistent Disparities</a:t>
            </a:r>
            <a:endParaRPr lang="en-US" sz="13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61AFB7AD-F3B2-D915-E82F-B51A8BC77442}"/>
              </a:ext>
            </a:extLst>
          </p:cNvPr>
          <p:cNvSpPr/>
          <p:nvPr/>
        </p:nvSpPr>
        <p:spPr>
          <a:xfrm>
            <a:off x="314325" y="5105400"/>
            <a:ext cx="8149134" cy="7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Racial/ethnic disparities persisted after adjustment, indicating that access-related factors are important but insufficient explanations — structural inequities require targeted intervention.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24983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0223"/>
            <a:ext cx="8839200" cy="725781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Recommendations </a:t>
            </a:r>
          </a:p>
        </p:txBody>
      </p:sp>
      <p:graphicFrame>
        <p:nvGraphicFramePr>
          <p:cNvPr id="29701" name="Content Placeholder 2">
            <a:extLst>
              <a:ext uri="{FF2B5EF4-FFF2-40B4-BE49-F238E27FC236}">
                <a16:creationId xmlns:a16="http://schemas.microsoft.com/office/drawing/2014/main" id="{911F7CF9-6666-CFE1-7DD0-1E357E365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047030"/>
              </p:ext>
            </p:extLst>
          </p:nvPr>
        </p:nvGraphicFramePr>
        <p:xfrm>
          <a:off x="457200" y="1417638"/>
          <a:ext cx="82296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extend the impact of this work, I developed a website that translates my research into clear, digestible information for the public and communities that my research may affect.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QR CODE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0304A4-7E6F-9765-4CBA-3CCB4F86A14F}"/>
              </a:ext>
            </a:extLst>
          </p:cNvPr>
          <p:cNvSpPr/>
          <p:nvPr/>
        </p:nvSpPr>
        <p:spPr>
          <a:xfrm>
            <a:off x="2686050" y="3267635"/>
            <a:ext cx="3771900" cy="3392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D866C-D3E4-C945-549D-F1CEA6E4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63" y="3442447"/>
            <a:ext cx="2984474" cy="298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3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B198D2-9C1C-7F46-94E5-6FA58D1C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008019"/>
            <a:ext cx="8143875" cy="725781"/>
          </a:xfrm>
        </p:spPr>
        <p:txBody>
          <a:bodyPr/>
          <a:lstStyle/>
          <a:p>
            <a:pPr algn="ctr"/>
            <a:r>
              <a:rPr lang="en-US" sz="66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010279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63AD4A-A834-19CF-0063-3409B37A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A56E4D-B5F5-F17A-8643-AAEF6F969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325" y="1143000"/>
            <a:ext cx="8030254" cy="600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Admoun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C., &amp;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Mayrovitz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H. N. (2022). The Etiology of Breast Cancer. In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Breast Cancer.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Exon.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Amboree, T. L.,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Damgacioglu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H., Chiao, E. Y.,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Schmeler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K. M., Sonawane, K., Deshmukh, A. A., &amp; Montealegre, J. R. (2025). Rural-Urban Disparities in Cervical Cancer Incidence and Mortality Among US Women.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JAMA network open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3;8(3):e2462634.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American Cancer Society. (2026).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Cancer Facts for Women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www.cancer.org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/cancer/risk-prevention/understanding-cancer-risk/cancer-facts/cancer-facts-for-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women.html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Cancer Stat Facts: Cervical Cancer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(2025). Retrieved from National Cancer Institute 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seer.cancer.gov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statfacts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/html/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cervix.html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CDC. (2024, August 28).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Causes Hereditary Breast and Ovarian Cancers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US Centers for Disease Control and Prevention: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www.cdc.gov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/breast-ovarian-cancer-hereditary/causes/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index.html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CDC. (2025, March 3).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Cancers Caused by HPV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U.S Centers for Disease Control and Prevention: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www.cdc.gov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hpv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/about/cancers-caused-by-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hpv.html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#:~:text=Number%20of%20Cancers%20Caused%20by,get%20cancers%20caused%20by%20HPV.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Cervical Cancer Screening: Cancer Trends Progress Report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(2025, April ). Retrieved from National Cancer Institute 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progressreport.cancer.gov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/detection/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cervical_cancer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Cohen , C. M.,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Wentzensen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N., Castle, P. E., Schiffman, M., Zuna, R., Arend, R. C., &amp; Clark, M. A. (2023). Racial and Ethnic Disparities in Cervical Cancer Incidence, Survival, and Mortality by Histologic Subtype.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Journal of clinical oncology : official journal of the American Society of Clinical Oncology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41(5), 1059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1068.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Coughlin, S. S., Vernon, M., Hatzigeorgiou, C., &amp; George, V. (2020). Health Literacy, Social Determinants of Health, and Disease Prevention and Control.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Journal of environment and health sciences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6(1), 3061.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Farajimakin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, O. (2024). Barriers to Cervical Cancer Screening: A Systematic Review.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Cureus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16(7), e65555.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Fowler, J. R., Maani, E. V., Dunton, C. J.,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Gasalberti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D. P., &amp; Jack, B. W. (2023). Cervical Cancer.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[Internet]. Treasure Island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KFF. (2021).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Cervical Cancer Incidence Rate per 100,000 Women by Race/Ethnicity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KFF: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www.kff.org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/state-health-policy-data/state-indicator/cervical-cancer-rate-by-re/?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currentTimeframe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=0&amp;sortModel=%7B%22colId%22:%22Location%22,%22sort%22:%22asc%22%7D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Lakham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, Y., Aherne , E. A., Jayaprakasam, V. S.,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Nougaret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S., &amp; Reinhold, C. (2024).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Staging of Cervical Cancer: A Practical Approach Using MRI and FDG PET.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Retrieved from American journal of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Rentgenology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doi.org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/10.2214/AJR.23.29003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National Cancer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Insitute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(2025, December 2).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Stages of Breast Cancer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www.cancer.gov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/types/breast/stages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Ojeaga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A., Alema-Mensah, E., Rivers , D.,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Azonobi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I., &amp; Rivers , B. (2019). Racial Disparities in HPV-related Knowledge, Attitudes, and Beliefs Among African American and White Women in the USA.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Journal of cancer education : the official journal of the American Association for Cancer Education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Organization, W. H. (n.d.).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Cervical Cancer Elimination Initiative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World Health Organization 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www.who.int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/initiatives/cervical-cancer-elimination-initiative?utm_source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Posit Software. (2025). [Computer software]. PBC.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Reducing Risk for Cervical Cancer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(2024, December 11). Retrieved from Centers for Disease Control and Prevention: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www.cdc.gov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/cervical-cancer/prevention/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index.html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Sabatino , S. A., Thompson , T. D., White , M. C., Villarroel, M. A., Shapiro, J. A., Croswell , J. M., &amp; Richardson , L. C. (2023). Up-to-Date Breast, Cervical, and Colorectal Cancer Screening Test Use in the United States, 2021.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Prev Chronic Dis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Sauter, E. R. (2018). Breast Cancer Prevention: Current Approaches and Future Directions.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European journal of breast health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14(2), 64-71.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Shockney, L. D. (2026, January 31).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Breast Cancer Facts and Stats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National Breast Cancer Foundation Inc: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www.nationalbreastcancer.org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/breast-cancer-facts/#:~:text=Breast%20cancer%20incidence%20in%20the,localized%20stage%20is%20over%2099%25.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Sung, H.,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Ferlay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J., Siegel, R. L.,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Laversanne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M.,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Soerjomataram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I., Jemal , A., &amp; Bray , F. (2021). Global Cancer Statistics 2020: GLOBOCAN Estimates of Incidence and Mortality Worldwide for 36 Cancers in 185 Countries.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Cancer Journal for Clinicians, 71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(3), 209-249.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Cervical Cancer?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(2023, June 15). Retrieved from National Cancer Institute: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www.cancer.gov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/types/cervical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World Health Organization. (2025, August 14).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Breast Cancer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www.who.int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/news-room/fact-sheets/detail/breast-cancer#:~:text=Treatment%20is%20based%20on%20the,of%20management%20as%20for%20women.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8288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World Health Organization. (2025, December 2).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Cervical Cancer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Retrieved from https://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www.who.int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/news-room/fact-sheets/detail/cervical-cancer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722425"/>
      </p:ext>
    </p:extLst>
  </p:cSld>
  <p:clrMapOvr>
    <a:masterClrMapping/>
  </p:clrMapOvr>
</p:sld>
</file>

<file path=ppt/theme/theme1.xml><?xml version="1.0" encoding="utf-8"?>
<a:theme xmlns:a="http://schemas.openxmlformats.org/drawingml/2006/main" name="MSM MPH Students">
  <a:themeElements>
    <a:clrScheme name="MSM MPH Student">
      <a:dk1>
        <a:srgbClr val="00003A"/>
      </a:dk1>
      <a:lt1>
        <a:srgbClr val="FFFFFF"/>
      </a:lt1>
      <a:dk2>
        <a:srgbClr val="002060"/>
      </a:dk2>
      <a:lt2>
        <a:srgbClr val="F2F2F2"/>
      </a:lt2>
      <a:accent1>
        <a:srgbClr val="00001E"/>
      </a:accent1>
      <a:accent2>
        <a:srgbClr val="BFBFBF"/>
      </a:accent2>
      <a:accent3>
        <a:srgbClr val="DFD9CF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SM MPH Students" id="{61480115-317A-488A-B3AC-57896E4B9EB0}" vid="{6C6E5D09-8D78-46DB-A486-3F4F32C37AE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37171</TotalTime>
  <Words>2510</Words>
  <Application>Microsoft Macintosh PowerPoint</Application>
  <PresentationFormat>On-screen Show (4:3)</PresentationFormat>
  <Paragraphs>211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Century Schoolbook</vt:lpstr>
      <vt:lpstr>Georgia</vt:lpstr>
      <vt:lpstr>Lucida Grande</vt:lpstr>
      <vt:lpstr>Times New Roman</vt:lpstr>
      <vt:lpstr>Wingdings 2</vt:lpstr>
      <vt:lpstr>MSM MPH Students</vt:lpstr>
      <vt:lpstr>Disparities in Breast and Cervical Cancer Outcomes</vt:lpstr>
      <vt:lpstr>Table of Contents</vt:lpstr>
      <vt:lpstr>Introduction </vt:lpstr>
      <vt:lpstr>Background</vt:lpstr>
      <vt:lpstr>Methods</vt:lpstr>
      <vt:lpstr>Methods – Research Question</vt:lpstr>
      <vt:lpstr>Statistical Analysis </vt:lpstr>
      <vt:lpstr>Results </vt:lpstr>
      <vt:lpstr>Discussion </vt:lpstr>
      <vt:lpstr>Recommendations </vt:lpstr>
      <vt:lpstr>QR CODE</vt:lpstr>
      <vt:lpstr>QUESTIONS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 in a supportive Environment housing program</dc:title>
  <dc:creator>vincent/walford</dc:creator>
  <cp:lastModifiedBy>McAlister, Bianca</cp:lastModifiedBy>
  <cp:revision>272</cp:revision>
  <cp:lastPrinted>2017-02-22T17:48:10Z</cp:lastPrinted>
  <dcterms:created xsi:type="dcterms:W3CDTF">2008-10-02T02:54:26Z</dcterms:created>
  <dcterms:modified xsi:type="dcterms:W3CDTF">2026-04-22T18:19:03Z</dcterms:modified>
</cp:coreProperties>
</file>